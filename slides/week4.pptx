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319" r:id="rId3"/>
    <p:sldId id="336" r:id="rId4"/>
    <p:sldId id="322" r:id="rId5"/>
    <p:sldId id="274" r:id="rId6"/>
    <p:sldId id="276" r:id="rId7"/>
    <p:sldId id="278" r:id="rId8"/>
    <p:sldId id="277" r:id="rId9"/>
    <p:sldId id="268" r:id="rId10"/>
    <p:sldId id="273" r:id="rId11"/>
    <p:sldId id="324" r:id="rId12"/>
    <p:sldId id="331" r:id="rId13"/>
    <p:sldId id="332" r:id="rId14"/>
    <p:sldId id="333" r:id="rId15"/>
    <p:sldId id="334" r:id="rId16"/>
    <p:sldId id="335" r:id="rId17"/>
    <p:sldId id="325" r:id="rId18"/>
    <p:sldId id="279" r:id="rId19"/>
    <p:sldId id="280" r:id="rId20"/>
    <p:sldId id="308" r:id="rId21"/>
    <p:sldId id="326" r:id="rId22"/>
    <p:sldId id="291" r:id="rId23"/>
    <p:sldId id="292" r:id="rId24"/>
    <p:sldId id="294" r:id="rId25"/>
    <p:sldId id="295" r:id="rId26"/>
    <p:sldId id="296" r:id="rId27"/>
    <p:sldId id="297" r:id="rId28"/>
    <p:sldId id="298" r:id="rId29"/>
    <p:sldId id="300" r:id="rId30"/>
    <p:sldId id="301" r:id="rId31"/>
    <p:sldId id="302" r:id="rId32"/>
    <p:sldId id="32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7C18816-4F64-5C4C-B607-12F95761C1B3}">
          <p14:sldIdLst>
            <p14:sldId id="256"/>
            <p14:sldId id="319"/>
            <p14:sldId id="336"/>
            <p14:sldId id="322"/>
            <p14:sldId id="274"/>
            <p14:sldId id="276"/>
            <p14:sldId id="278"/>
            <p14:sldId id="277"/>
            <p14:sldId id="268"/>
            <p14:sldId id="273"/>
            <p14:sldId id="324"/>
            <p14:sldId id="331"/>
            <p14:sldId id="332"/>
            <p14:sldId id="333"/>
            <p14:sldId id="334"/>
            <p14:sldId id="335"/>
            <p14:sldId id="325"/>
            <p14:sldId id="279"/>
            <p14:sldId id="280"/>
            <p14:sldId id="308"/>
            <p14:sldId id="326"/>
            <p14:sldId id="291"/>
            <p14:sldId id="292"/>
            <p14:sldId id="294"/>
            <p14:sldId id="295"/>
            <p14:sldId id="296"/>
            <p14:sldId id="297"/>
            <p14:sldId id="298"/>
            <p14:sldId id="300"/>
            <p14:sldId id="301"/>
            <p14:sldId id="302"/>
            <p14:sldId id="32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35"/>
    <p:restoredTop sz="80567"/>
  </p:normalViewPr>
  <p:slideViewPr>
    <p:cSldViewPr snapToGrid="0">
      <p:cViewPr varScale="1">
        <p:scale>
          <a:sx n="97" d="100"/>
          <a:sy n="97" d="100"/>
        </p:scale>
        <p:origin x="1040" y="20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4213C4-0D14-2F41-96DF-D6B8577D6E0D}" type="datetimeFigureOut">
              <a:rPr lang="en-US" smtClean="0"/>
              <a:t>1/23/26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8602F8-6944-C64E-9E33-5125641203B3}" type="slidenum">
              <a:rPr lang="en-US" smtClean="0"/>
              <a:t>‹#›</a:t>
            </a:fld>
            <a:endParaRPr lang="en-US"/>
          </a:p>
        </p:txBody>
      </p:sp>
    </p:spTree>
    <p:extLst>
      <p:ext uri="{BB962C8B-B14F-4D97-AF65-F5344CB8AC3E}">
        <p14:creationId xmlns:p14="http://schemas.microsoft.com/office/powerpoint/2010/main" val="4190847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Cloud_computing"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8602F8-6944-C64E-9E33-5125641203B3}" type="slidenum">
              <a:rPr lang="en-US" smtClean="0"/>
              <a:t>1</a:t>
            </a:fld>
            <a:endParaRPr lang="en-US"/>
          </a:p>
        </p:txBody>
      </p:sp>
    </p:spTree>
    <p:extLst>
      <p:ext uri="{BB962C8B-B14F-4D97-AF65-F5344CB8AC3E}">
        <p14:creationId xmlns:p14="http://schemas.microsoft.com/office/powerpoint/2010/main" val="4231487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8602F8-6944-C64E-9E33-5125641203B3}" type="slidenum">
              <a:rPr lang="en-US" smtClean="0"/>
              <a:t>2</a:t>
            </a:fld>
            <a:endParaRPr lang="en-US"/>
          </a:p>
        </p:txBody>
      </p:sp>
    </p:spTree>
    <p:extLst>
      <p:ext uri="{BB962C8B-B14F-4D97-AF65-F5344CB8AC3E}">
        <p14:creationId xmlns:p14="http://schemas.microsoft.com/office/powerpoint/2010/main" val="4195224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Image Source:</a:t>
            </a:r>
          </a:p>
          <a:p>
            <a:endParaRPr lang="en-US" dirty="0"/>
          </a:p>
          <a:p>
            <a:r>
              <a:rPr lang="en-US" dirty="0"/>
              <a:t>Efficient and Dynamic Scaling of Fog Nodes for IoT Devices. Available from: https://</a:t>
            </a:r>
            <a:r>
              <a:rPr lang="en-US" dirty="0" err="1"/>
              <a:t>www.researchgate.net</a:t>
            </a:r>
            <a:r>
              <a:rPr lang="en-US" dirty="0"/>
              <a:t>/figure/Three-tier-architecture-of-a-typical-IoT-system_fig3_317380217 [accessed 12 Jan 2026]</a:t>
            </a:r>
          </a:p>
        </p:txBody>
      </p:sp>
      <p:sp>
        <p:nvSpPr>
          <p:cNvPr id="4" name="Slide Number Placeholder 3"/>
          <p:cNvSpPr>
            <a:spLocks noGrp="1"/>
          </p:cNvSpPr>
          <p:nvPr>
            <p:ph type="sldNum" sz="quarter" idx="5"/>
          </p:nvPr>
        </p:nvSpPr>
        <p:spPr/>
        <p:txBody>
          <a:bodyPr/>
          <a:lstStyle/>
          <a:p>
            <a:fld id="{558602F8-6944-C64E-9E33-5125641203B3}" type="slidenum">
              <a:rPr lang="en-US" smtClean="0"/>
              <a:t>4</a:t>
            </a:fld>
            <a:endParaRPr lang="en-US"/>
          </a:p>
        </p:txBody>
      </p:sp>
    </p:spTree>
    <p:extLst>
      <p:ext uri="{BB962C8B-B14F-4D97-AF65-F5344CB8AC3E}">
        <p14:creationId xmlns:p14="http://schemas.microsoft.com/office/powerpoint/2010/main" val="19337812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Source: https://en.wikipedia.org/wiki/Cloud_computing</a:t>
            </a:r>
            <a:endParaRPr lang="en-US" dirty="0"/>
          </a:p>
          <a:p>
            <a:endParaRPr lang="en-US" dirty="0"/>
          </a:p>
        </p:txBody>
      </p:sp>
      <p:sp>
        <p:nvSpPr>
          <p:cNvPr id="4" name="Slide Number Placeholder 3"/>
          <p:cNvSpPr>
            <a:spLocks noGrp="1"/>
          </p:cNvSpPr>
          <p:nvPr>
            <p:ph type="sldNum" sz="quarter" idx="5"/>
          </p:nvPr>
        </p:nvSpPr>
        <p:spPr/>
        <p:txBody>
          <a:bodyPr/>
          <a:lstStyle/>
          <a:p>
            <a:fld id="{558602F8-6944-C64E-9E33-5125641203B3}" type="slidenum">
              <a:rPr lang="en-US" smtClean="0"/>
              <a:t>5</a:t>
            </a:fld>
            <a:endParaRPr lang="en-US"/>
          </a:p>
        </p:txBody>
      </p:sp>
    </p:spTree>
    <p:extLst>
      <p:ext uri="{BB962C8B-B14F-4D97-AF65-F5344CB8AC3E}">
        <p14:creationId xmlns:p14="http://schemas.microsoft.com/office/powerpoint/2010/main" val="3453984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Image source:</a:t>
            </a:r>
          </a:p>
          <a:p>
            <a:r>
              <a:rPr lang="en-US" dirty="0"/>
              <a:t>https://</a:t>
            </a:r>
            <a:r>
              <a:rPr lang="en-US" dirty="0" err="1"/>
              <a:t>en.wikipedia.org</a:t>
            </a:r>
            <a:r>
              <a:rPr lang="en-US" dirty="0"/>
              <a:t>/wiki/</a:t>
            </a:r>
            <a:r>
              <a:rPr lang="en-US" dirty="0" err="1"/>
              <a:t>Cloud_computing</a:t>
            </a:r>
            <a:endParaRPr lang="en-US" dirty="0"/>
          </a:p>
          <a:p>
            <a:endParaRPr lang="en-US" dirty="0"/>
          </a:p>
          <a:p>
            <a:r>
              <a:rPr lang="en-US" dirty="0"/>
              <a:t>SaaS</a:t>
            </a:r>
          </a:p>
          <a:p>
            <a:r>
              <a:rPr lang="en-US" dirty="0"/>
              <a:t>The capability provided to the consumer is to use the provider's applications running on a cloud infrastructure. The applications are accessible from various client devices through either a thin client interface, such as a web browser (e.g., web-based email), or a program interface. The consumer does not manage or control the underlying cloud infrastructure including network, servers, operating systems, storage, or even individual application capabilities, with the possible exception of limited user-specific application configuration settings.</a:t>
            </a:r>
          </a:p>
          <a:p>
            <a:endParaRPr lang="en-US" dirty="0"/>
          </a:p>
          <a:p>
            <a:r>
              <a:rPr lang="en-US" dirty="0"/>
              <a:t>PaaS</a:t>
            </a:r>
          </a:p>
          <a:p>
            <a:r>
              <a:rPr lang="en-US" dirty="0"/>
              <a:t>The capability provided to the consumer is to deploy onto the cloud infrastructure consumer-created or acquired applications created using programming languages, libraries, services, and tools supported by the provider. The consumer does not manage or control the underlying cloud infrastructure including network, servers, operating systems, or storage, but has control over the deployed applications and possibly configuration settings for the application-hosting environment. (API provided by provider).</a:t>
            </a:r>
          </a:p>
          <a:p>
            <a:endParaRPr lang="en-US" dirty="0"/>
          </a:p>
          <a:p>
            <a:r>
              <a:rPr lang="en-US" dirty="0"/>
              <a:t>IaaS</a:t>
            </a:r>
          </a:p>
          <a:p>
            <a:r>
              <a:rPr lang="en-US" dirty="0"/>
              <a:t>the consumer is able to deploy and run arbitrary software, which can include operating systems and applications. The consumer does not manage or control the underlying cloud infrastructure (hardware) but has control over operating systems, storage, and deployed applications; and possibly limited control of select networking components (e.g., host firewalls).</a:t>
            </a:r>
          </a:p>
          <a:p>
            <a:endParaRPr lang="en-US" dirty="0"/>
          </a:p>
          <a:p>
            <a:r>
              <a:rPr lang="en-US" dirty="0"/>
              <a:t>We will be using AWS in the IaaS mode.</a:t>
            </a:r>
          </a:p>
          <a:p>
            <a:endParaRPr lang="en-US" dirty="0"/>
          </a:p>
        </p:txBody>
      </p:sp>
      <p:sp>
        <p:nvSpPr>
          <p:cNvPr id="4" name="Slide Number Placeholder 3"/>
          <p:cNvSpPr>
            <a:spLocks noGrp="1"/>
          </p:cNvSpPr>
          <p:nvPr>
            <p:ph type="sldNum" sz="quarter" idx="5"/>
          </p:nvPr>
        </p:nvSpPr>
        <p:spPr/>
        <p:txBody>
          <a:bodyPr/>
          <a:lstStyle/>
          <a:p>
            <a:fld id="{558602F8-6944-C64E-9E33-5125641203B3}" type="slidenum">
              <a:rPr lang="en-US" smtClean="0"/>
              <a:t>6</a:t>
            </a:fld>
            <a:endParaRPr lang="en-US"/>
          </a:p>
        </p:txBody>
      </p:sp>
    </p:spTree>
    <p:extLst>
      <p:ext uri="{BB962C8B-B14F-4D97-AF65-F5344CB8AC3E}">
        <p14:creationId xmlns:p14="http://schemas.microsoft.com/office/powerpoint/2010/main" val="844946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8602F8-6944-C64E-9E33-5125641203B3}" type="slidenum">
              <a:rPr lang="en-US" smtClean="0"/>
              <a:t>7</a:t>
            </a:fld>
            <a:endParaRPr lang="en-US"/>
          </a:p>
        </p:txBody>
      </p:sp>
    </p:spTree>
    <p:extLst>
      <p:ext uri="{BB962C8B-B14F-4D97-AF65-F5344CB8AC3E}">
        <p14:creationId xmlns:p14="http://schemas.microsoft.com/office/powerpoint/2010/main" val="3335399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Amazon Web Services, Inc. (AWS) is a subsidiary of Amazon that provides on-demand cloud computing platforms and APIs to individuals, companies, and governments, on a metered, pay-as-you-go basis.</a:t>
            </a:r>
          </a:p>
        </p:txBody>
      </p:sp>
      <p:sp>
        <p:nvSpPr>
          <p:cNvPr id="4" name="Slide Number Placeholder 3"/>
          <p:cNvSpPr>
            <a:spLocks noGrp="1"/>
          </p:cNvSpPr>
          <p:nvPr>
            <p:ph type="sldNum" sz="quarter" idx="5"/>
          </p:nvPr>
        </p:nvSpPr>
        <p:spPr/>
        <p:txBody>
          <a:bodyPr/>
          <a:lstStyle/>
          <a:p>
            <a:fld id="{558602F8-6944-C64E-9E33-5125641203B3}" type="slidenum">
              <a:rPr lang="en-US" smtClean="0"/>
              <a:t>8</a:t>
            </a:fld>
            <a:endParaRPr lang="en-US"/>
          </a:p>
        </p:txBody>
      </p:sp>
    </p:spTree>
    <p:extLst>
      <p:ext uri="{BB962C8B-B14F-4D97-AF65-F5344CB8AC3E}">
        <p14:creationId xmlns:p14="http://schemas.microsoft.com/office/powerpoint/2010/main" val="2297552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3AECCA-11DB-4E90-A4D1-DD64CE8BFB89}" type="slidenum">
              <a:rPr lang="en-US" smtClean="0"/>
              <a:t>9</a:t>
            </a:fld>
            <a:endParaRPr lang="en-US"/>
          </a:p>
        </p:txBody>
      </p:sp>
    </p:spTree>
    <p:extLst>
      <p:ext uri="{BB962C8B-B14F-4D97-AF65-F5344CB8AC3E}">
        <p14:creationId xmlns:p14="http://schemas.microsoft.com/office/powerpoint/2010/main" val="849814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8602F8-6944-C64E-9E33-5125641203B3}" type="slidenum">
              <a:rPr lang="en-US" smtClean="0"/>
              <a:t>10</a:t>
            </a:fld>
            <a:endParaRPr lang="en-US"/>
          </a:p>
        </p:txBody>
      </p:sp>
    </p:spTree>
    <p:extLst>
      <p:ext uri="{BB962C8B-B14F-4D97-AF65-F5344CB8AC3E}">
        <p14:creationId xmlns:p14="http://schemas.microsoft.com/office/powerpoint/2010/main" val="3383549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8602F8-6944-C64E-9E33-5125641203B3}" type="slidenum">
              <a:rPr lang="en-US" smtClean="0"/>
              <a:t>11</a:t>
            </a:fld>
            <a:endParaRPr lang="en-US"/>
          </a:p>
        </p:txBody>
      </p:sp>
    </p:spTree>
    <p:extLst>
      <p:ext uri="{BB962C8B-B14F-4D97-AF65-F5344CB8AC3E}">
        <p14:creationId xmlns:p14="http://schemas.microsoft.com/office/powerpoint/2010/main" val="3670462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Consider the case of three coroutines cr0, cr1 and cr2. A possible sequence of awaits might work as follows:</a:t>
            </a:r>
          </a:p>
          <a:p>
            <a:endParaRPr lang="en-GB" dirty="0"/>
          </a:p>
          <a:p>
            <a:r>
              <a:rPr lang="en-GB" dirty="0"/>
              <a:t>Event loop runs cr0 → cr0 awaits cr1 (control enters cr1) → cr1 awaits cr2 (control enters cr2) → cr2 awaits I/O (yields to event loop) ... → event loop resumes cr2 (I/O ready; cr2 continues, returns to cr1) → cr1 finishes, returns to cr0 → cr0 finishes, returns to the event loop.</a:t>
            </a:r>
            <a:br>
              <a:rPr lang="en-GB" dirty="0"/>
            </a:br>
            <a:br>
              <a:rPr lang="en-GB" dirty="0"/>
            </a:br>
            <a:r>
              <a:rPr lang="en-GB" dirty="0"/>
              <a:t>An ‘await </a:t>
            </a:r>
            <a:r>
              <a:rPr lang="en-GB" dirty="0" err="1"/>
              <a:t>cr</a:t>
            </a:r>
            <a:r>
              <a:rPr lang="en-GB" dirty="0"/>
              <a:t>’  is effectively calling a suspend-able function. Once a function is suspended it yields control to the event loop. The event loop then reschedules the suspended coroutine when it becomes I/O ready.</a:t>
            </a:r>
            <a:br>
              <a:rPr lang="en-GB" dirty="0"/>
            </a:br>
            <a:br>
              <a:rPr lang="en-GB" dirty="0"/>
            </a:br>
            <a:endParaRPr lang="en-US" dirty="0"/>
          </a:p>
        </p:txBody>
      </p:sp>
      <p:sp>
        <p:nvSpPr>
          <p:cNvPr id="4" name="Slide Number Placeholder 3"/>
          <p:cNvSpPr>
            <a:spLocks noGrp="1"/>
          </p:cNvSpPr>
          <p:nvPr>
            <p:ph type="sldNum" sz="quarter" idx="5"/>
          </p:nvPr>
        </p:nvSpPr>
        <p:spPr/>
        <p:txBody>
          <a:bodyPr/>
          <a:lstStyle/>
          <a:p>
            <a:fld id="{558602F8-6944-C64E-9E33-5125641203B3}" type="slidenum">
              <a:rPr lang="en-US" smtClean="0"/>
              <a:t>15</a:t>
            </a:fld>
            <a:endParaRPr lang="en-US"/>
          </a:p>
        </p:txBody>
      </p:sp>
    </p:spTree>
    <p:extLst>
      <p:ext uri="{BB962C8B-B14F-4D97-AF65-F5344CB8AC3E}">
        <p14:creationId xmlns:p14="http://schemas.microsoft.com/office/powerpoint/2010/main" val="27720835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8602F8-6944-C64E-9E33-5125641203B3}" type="slidenum">
              <a:rPr lang="en-US" smtClean="0"/>
              <a:t>17</a:t>
            </a:fld>
            <a:endParaRPr lang="en-US"/>
          </a:p>
        </p:txBody>
      </p:sp>
    </p:spTree>
    <p:extLst>
      <p:ext uri="{BB962C8B-B14F-4D97-AF65-F5344CB8AC3E}">
        <p14:creationId xmlns:p14="http://schemas.microsoft.com/office/powerpoint/2010/main" val="2296411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You have the choice of using a SQL or NoSQL database</a:t>
            </a:r>
          </a:p>
        </p:txBody>
      </p:sp>
      <p:sp>
        <p:nvSpPr>
          <p:cNvPr id="4" name="Slide Number Placeholder 3"/>
          <p:cNvSpPr>
            <a:spLocks noGrp="1"/>
          </p:cNvSpPr>
          <p:nvPr>
            <p:ph type="sldNum" sz="quarter" idx="5"/>
          </p:nvPr>
        </p:nvSpPr>
        <p:spPr/>
        <p:txBody>
          <a:bodyPr/>
          <a:lstStyle/>
          <a:p>
            <a:fld id="{558602F8-6944-C64E-9E33-5125641203B3}" type="slidenum">
              <a:rPr lang="en-US" smtClean="0"/>
              <a:t>18</a:t>
            </a:fld>
            <a:endParaRPr lang="en-US"/>
          </a:p>
        </p:txBody>
      </p:sp>
    </p:spTree>
    <p:extLst>
      <p:ext uri="{BB962C8B-B14F-4D97-AF65-F5344CB8AC3E}">
        <p14:creationId xmlns:p14="http://schemas.microsoft.com/office/powerpoint/2010/main" val="3996595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3AECCA-11DB-4E90-A4D1-DD64CE8BFB89}" type="slidenum">
              <a:rPr lang="en-US" smtClean="0"/>
              <a:t>19</a:t>
            </a:fld>
            <a:endParaRPr lang="en-US"/>
          </a:p>
        </p:txBody>
      </p:sp>
    </p:spTree>
    <p:extLst>
      <p:ext uri="{BB962C8B-B14F-4D97-AF65-F5344CB8AC3E}">
        <p14:creationId xmlns:p14="http://schemas.microsoft.com/office/powerpoint/2010/main" val="206597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ed8ba4dd5f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9" name="Google Shape;99;ged8ba4dd5f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2396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8602F8-6944-C64E-9E33-5125641203B3}" type="slidenum">
              <a:rPr lang="en-US" smtClean="0"/>
              <a:t>21</a:t>
            </a:fld>
            <a:endParaRPr lang="en-US"/>
          </a:p>
        </p:txBody>
      </p:sp>
    </p:spTree>
    <p:extLst>
      <p:ext uri="{BB962C8B-B14F-4D97-AF65-F5344CB8AC3E}">
        <p14:creationId xmlns:p14="http://schemas.microsoft.com/office/powerpoint/2010/main" val="1929894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8602F8-6944-C64E-9E33-5125641203B3}" type="slidenum">
              <a:rPr lang="en-US" smtClean="0"/>
              <a:t>22</a:t>
            </a:fld>
            <a:endParaRPr lang="en-US"/>
          </a:p>
        </p:txBody>
      </p:sp>
    </p:spTree>
    <p:extLst>
      <p:ext uri="{BB962C8B-B14F-4D97-AF65-F5344CB8AC3E}">
        <p14:creationId xmlns:p14="http://schemas.microsoft.com/office/powerpoint/2010/main" val="2112114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565A5A-C270-BF4A-B89C-C28E930C1301}" type="slidenum">
              <a:rPr lang="en-US" smtClean="0"/>
              <a:t>23</a:t>
            </a:fld>
            <a:endParaRPr lang="en-US"/>
          </a:p>
        </p:txBody>
      </p:sp>
    </p:spTree>
    <p:extLst>
      <p:ext uri="{BB962C8B-B14F-4D97-AF65-F5344CB8AC3E}">
        <p14:creationId xmlns:p14="http://schemas.microsoft.com/office/powerpoint/2010/main" val="2490242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565A5A-C270-BF4A-B89C-C28E930C1301}" type="slidenum">
              <a:rPr lang="en-US" smtClean="0"/>
              <a:t>24</a:t>
            </a:fld>
            <a:endParaRPr lang="en-US"/>
          </a:p>
        </p:txBody>
      </p:sp>
    </p:spTree>
    <p:extLst>
      <p:ext uri="{BB962C8B-B14F-4D97-AF65-F5344CB8AC3E}">
        <p14:creationId xmlns:p14="http://schemas.microsoft.com/office/powerpoint/2010/main" val="29130190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565A5A-C270-BF4A-B89C-C28E930C1301}" type="slidenum">
              <a:rPr lang="en-US" smtClean="0"/>
              <a:t>25</a:t>
            </a:fld>
            <a:endParaRPr lang="en-US"/>
          </a:p>
        </p:txBody>
      </p:sp>
    </p:spTree>
    <p:extLst>
      <p:ext uri="{BB962C8B-B14F-4D97-AF65-F5344CB8AC3E}">
        <p14:creationId xmlns:p14="http://schemas.microsoft.com/office/powerpoint/2010/main" val="17257525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565A5A-C270-BF4A-B89C-C28E930C1301}" type="slidenum">
              <a:rPr lang="en-US" smtClean="0"/>
              <a:t>26</a:t>
            </a:fld>
            <a:endParaRPr lang="en-US"/>
          </a:p>
        </p:txBody>
      </p:sp>
    </p:spTree>
    <p:extLst>
      <p:ext uri="{BB962C8B-B14F-4D97-AF65-F5344CB8AC3E}">
        <p14:creationId xmlns:p14="http://schemas.microsoft.com/office/powerpoint/2010/main" val="1885288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565A5A-C270-BF4A-B89C-C28E930C1301}" type="slidenum">
              <a:rPr lang="en-US" smtClean="0"/>
              <a:t>27</a:t>
            </a:fld>
            <a:endParaRPr lang="en-US"/>
          </a:p>
        </p:txBody>
      </p:sp>
    </p:spTree>
    <p:extLst>
      <p:ext uri="{BB962C8B-B14F-4D97-AF65-F5344CB8AC3E}">
        <p14:creationId xmlns:p14="http://schemas.microsoft.com/office/powerpoint/2010/main" val="5297283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565A5A-C270-BF4A-B89C-C28E930C1301}" type="slidenum">
              <a:rPr lang="en-US" smtClean="0"/>
              <a:t>28</a:t>
            </a:fld>
            <a:endParaRPr lang="en-US"/>
          </a:p>
        </p:txBody>
      </p:sp>
    </p:spTree>
    <p:extLst>
      <p:ext uri="{BB962C8B-B14F-4D97-AF65-F5344CB8AC3E}">
        <p14:creationId xmlns:p14="http://schemas.microsoft.com/office/powerpoint/2010/main" val="20071572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565A5A-C270-BF4A-B89C-C28E930C1301}" type="slidenum">
              <a:rPr lang="en-US" smtClean="0"/>
              <a:t>29</a:t>
            </a:fld>
            <a:endParaRPr lang="en-US"/>
          </a:p>
        </p:txBody>
      </p:sp>
    </p:spTree>
    <p:extLst>
      <p:ext uri="{BB962C8B-B14F-4D97-AF65-F5344CB8AC3E}">
        <p14:creationId xmlns:p14="http://schemas.microsoft.com/office/powerpoint/2010/main" val="16468762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565A5A-C270-BF4A-B89C-C28E930C1301}" type="slidenum">
              <a:rPr lang="en-US" smtClean="0"/>
              <a:t>30</a:t>
            </a:fld>
            <a:endParaRPr lang="en-US"/>
          </a:p>
        </p:txBody>
      </p:sp>
    </p:spTree>
    <p:extLst>
      <p:ext uri="{BB962C8B-B14F-4D97-AF65-F5344CB8AC3E}">
        <p14:creationId xmlns:p14="http://schemas.microsoft.com/office/powerpoint/2010/main" val="7338473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565A5A-C270-BF4A-B89C-C28E930C1301}" type="slidenum">
              <a:rPr lang="en-US" smtClean="0"/>
              <a:t>31</a:t>
            </a:fld>
            <a:endParaRPr lang="en-US"/>
          </a:p>
        </p:txBody>
      </p:sp>
    </p:spTree>
    <p:extLst>
      <p:ext uri="{BB962C8B-B14F-4D97-AF65-F5344CB8AC3E}">
        <p14:creationId xmlns:p14="http://schemas.microsoft.com/office/powerpoint/2010/main" val="7013283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8602F8-6944-C64E-9E33-5125641203B3}" type="slidenum">
              <a:rPr lang="en-US" smtClean="0"/>
              <a:t>32</a:t>
            </a:fld>
            <a:endParaRPr lang="en-US"/>
          </a:p>
        </p:txBody>
      </p:sp>
    </p:spTree>
    <p:extLst>
      <p:ext uri="{BB962C8B-B14F-4D97-AF65-F5344CB8AC3E}">
        <p14:creationId xmlns:p14="http://schemas.microsoft.com/office/powerpoint/2010/main" val="987042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E98E4-24E4-E382-C1D1-57BB548F2AD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0DCBF16-44FF-0E26-F203-A9E62C4CD6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7F26451-366C-19E1-1A20-45B8BACD3906}"/>
              </a:ext>
            </a:extLst>
          </p:cNvPr>
          <p:cNvSpPr>
            <a:spLocks noGrp="1"/>
          </p:cNvSpPr>
          <p:nvPr>
            <p:ph type="dt" sz="half" idx="10"/>
          </p:nvPr>
        </p:nvSpPr>
        <p:spPr/>
        <p:txBody>
          <a:bodyPr/>
          <a:lstStyle/>
          <a:p>
            <a:fld id="{D71E87E7-5E92-8940-B153-60ED744D45D8}" type="datetimeFigureOut">
              <a:rPr lang="en-US" smtClean="0"/>
              <a:t>1/23/26</a:t>
            </a:fld>
            <a:endParaRPr lang="en-US"/>
          </a:p>
        </p:txBody>
      </p:sp>
      <p:sp>
        <p:nvSpPr>
          <p:cNvPr id="5" name="Footer Placeholder 4">
            <a:extLst>
              <a:ext uri="{FF2B5EF4-FFF2-40B4-BE49-F238E27FC236}">
                <a16:creationId xmlns:a16="http://schemas.microsoft.com/office/drawing/2014/main" id="{AA96D328-7001-1205-D9C3-DE17B6EE91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1B9E4B-ADDB-8F2E-7515-6878481DD953}"/>
              </a:ext>
            </a:extLst>
          </p:cNvPr>
          <p:cNvSpPr>
            <a:spLocks noGrp="1"/>
          </p:cNvSpPr>
          <p:nvPr>
            <p:ph type="sldNum" sz="quarter" idx="12"/>
          </p:nvPr>
        </p:nvSpPr>
        <p:spPr/>
        <p:txBody>
          <a:bodyPr/>
          <a:lstStyle/>
          <a:p>
            <a:fld id="{AC536B90-48C1-8749-8B13-4D94A38C646D}" type="slidenum">
              <a:rPr lang="en-US" smtClean="0"/>
              <a:t>‹#›</a:t>
            </a:fld>
            <a:endParaRPr lang="en-US"/>
          </a:p>
        </p:txBody>
      </p:sp>
    </p:spTree>
    <p:extLst>
      <p:ext uri="{BB962C8B-B14F-4D97-AF65-F5344CB8AC3E}">
        <p14:creationId xmlns:p14="http://schemas.microsoft.com/office/powerpoint/2010/main" val="4265303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05CF0-29AA-C26B-FD8D-93175918C79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ED2A779-A31E-EFDB-85A0-769D840505D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1CCEC83-BACA-4846-1574-C872501F4A99}"/>
              </a:ext>
            </a:extLst>
          </p:cNvPr>
          <p:cNvSpPr>
            <a:spLocks noGrp="1"/>
          </p:cNvSpPr>
          <p:nvPr>
            <p:ph type="dt" sz="half" idx="10"/>
          </p:nvPr>
        </p:nvSpPr>
        <p:spPr/>
        <p:txBody>
          <a:bodyPr/>
          <a:lstStyle/>
          <a:p>
            <a:fld id="{D71E87E7-5E92-8940-B153-60ED744D45D8}" type="datetimeFigureOut">
              <a:rPr lang="en-US" smtClean="0"/>
              <a:t>1/23/26</a:t>
            </a:fld>
            <a:endParaRPr lang="en-US"/>
          </a:p>
        </p:txBody>
      </p:sp>
      <p:sp>
        <p:nvSpPr>
          <p:cNvPr id="5" name="Footer Placeholder 4">
            <a:extLst>
              <a:ext uri="{FF2B5EF4-FFF2-40B4-BE49-F238E27FC236}">
                <a16:creationId xmlns:a16="http://schemas.microsoft.com/office/drawing/2014/main" id="{927A125D-2F01-8A0E-34F4-6EF82B0B71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524ADF-0299-F0D5-2042-C0AE9518DDA4}"/>
              </a:ext>
            </a:extLst>
          </p:cNvPr>
          <p:cNvSpPr>
            <a:spLocks noGrp="1"/>
          </p:cNvSpPr>
          <p:nvPr>
            <p:ph type="sldNum" sz="quarter" idx="12"/>
          </p:nvPr>
        </p:nvSpPr>
        <p:spPr/>
        <p:txBody>
          <a:bodyPr/>
          <a:lstStyle/>
          <a:p>
            <a:fld id="{AC536B90-48C1-8749-8B13-4D94A38C646D}" type="slidenum">
              <a:rPr lang="en-US" smtClean="0"/>
              <a:t>‹#›</a:t>
            </a:fld>
            <a:endParaRPr lang="en-US"/>
          </a:p>
        </p:txBody>
      </p:sp>
    </p:spTree>
    <p:extLst>
      <p:ext uri="{BB962C8B-B14F-4D97-AF65-F5344CB8AC3E}">
        <p14:creationId xmlns:p14="http://schemas.microsoft.com/office/powerpoint/2010/main" val="4152790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49712-408B-C5E7-6262-EFC93713DD2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F743E92-24AD-4AA8-6E67-623225A9AF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DEF2FA5-9A7D-4461-8A55-8580781F4D26}"/>
              </a:ext>
            </a:extLst>
          </p:cNvPr>
          <p:cNvSpPr>
            <a:spLocks noGrp="1"/>
          </p:cNvSpPr>
          <p:nvPr>
            <p:ph type="dt" sz="half" idx="10"/>
          </p:nvPr>
        </p:nvSpPr>
        <p:spPr/>
        <p:txBody>
          <a:bodyPr/>
          <a:lstStyle/>
          <a:p>
            <a:fld id="{D71E87E7-5E92-8940-B153-60ED744D45D8}" type="datetimeFigureOut">
              <a:rPr lang="en-US" smtClean="0"/>
              <a:t>1/23/26</a:t>
            </a:fld>
            <a:endParaRPr lang="en-US"/>
          </a:p>
        </p:txBody>
      </p:sp>
      <p:sp>
        <p:nvSpPr>
          <p:cNvPr id="5" name="Footer Placeholder 4">
            <a:extLst>
              <a:ext uri="{FF2B5EF4-FFF2-40B4-BE49-F238E27FC236}">
                <a16:creationId xmlns:a16="http://schemas.microsoft.com/office/drawing/2014/main" id="{E7930667-E961-831C-018A-842272096F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50A642-82A8-0C76-309F-B78176BF61E0}"/>
              </a:ext>
            </a:extLst>
          </p:cNvPr>
          <p:cNvSpPr>
            <a:spLocks noGrp="1"/>
          </p:cNvSpPr>
          <p:nvPr>
            <p:ph type="sldNum" sz="quarter" idx="12"/>
          </p:nvPr>
        </p:nvSpPr>
        <p:spPr/>
        <p:txBody>
          <a:bodyPr/>
          <a:lstStyle/>
          <a:p>
            <a:fld id="{AC536B90-48C1-8749-8B13-4D94A38C646D}" type="slidenum">
              <a:rPr lang="en-US" smtClean="0"/>
              <a:t>‹#›</a:t>
            </a:fld>
            <a:endParaRPr lang="en-US"/>
          </a:p>
        </p:txBody>
      </p:sp>
    </p:spTree>
    <p:extLst>
      <p:ext uri="{BB962C8B-B14F-4D97-AF65-F5344CB8AC3E}">
        <p14:creationId xmlns:p14="http://schemas.microsoft.com/office/powerpoint/2010/main" val="2300378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FCB9B-4346-D912-1ED5-06AC59778AD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8AFDC6E-A2D4-DD14-5B14-D53DB52B5CF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52A00B3-A550-9BD1-561F-6476E437737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2F1A1C3-B8CA-C359-E2EC-F592581BAA3E}"/>
              </a:ext>
            </a:extLst>
          </p:cNvPr>
          <p:cNvSpPr>
            <a:spLocks noGrp="1"/>
          </p:cNvSpPr>
          <p:nvPr>
            <p:ph type="dt" sz="half" idx="10"/>
          </p:nvPr>
        </p:nvSpPr>
        <p:spPr/>
        <p:txBody>
          <a:bodyPr/>
          <a:lstStyle/>
          <a:p>
            <a:fld id="{D71E87E7-5E92-8940-B153-60ED744D45D8}" type="datetimeFigureOut">
              <a:rPr lang="en-US" smtClean="0"/>
              <a:t>1/23/26</a:t>
            </a:fld>
            <a:endParaRPr lang="en-US"/>
          </a:p>
        </p:txBody>
      </p:sp>
      <p:sp>
        <p:nvSpPr>
          <p:cNvPr id="6" name="Footer Placeholder 5">
            <a:extLst>
              <a:ext uri="{FF2B5EF4-FFF2-40B4-BE49-F238E27FC236}">
                <a16:creationId xmlns:a16="http://schemas.microsoft.com/office/drawing/2014/main" id="{D695128D-D034-2C7D-1D9A-463D9D0FB7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5C51D5-B20F-372A-2D24-33F3D0A05254}"/>
              </a:ext>
            </a:extLst>
          </p:cNvPr>
          <p:cNvSpPr>
            <a:spLocks noGrp="1"/>
          </p:cNvSpPr>
          <p:nvPr>
            <p:ph type="sldNum" sz="quarter" idx="12"/>
          </p:nvPr>
        </p:nvSpPr>
        <p:spPr/>
        <p:txBody>
          <a:bodyPr/>
          <a:lstStyle/>
          <a:p>
            <a:fld id="{AC536B90-48C1-8749-8B13-4D94A38C646D}" type="slidenum">
              <a:rPr lang="en-US" smtClean="0"/>
              <a:t>‹#›</a:t>
            </a:fld>
            <a:endParaRPr lang="en-US"/>
          </a:p>
        </p:txBody>
      </p:sp>
    </p:spTree>
    <p:extLst>
      <p:ext uri="{BB962C8B-B14F-4D97-AF65-F5344CB8AC3E}">
        <p14:creationId xmlns:p14="http://schemas.microsoft.com/office/powerpoint/2010/main" val="2403247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35247-A1AC-08C0-BE91-9976DBF83D5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F845636-0BD5-5083-3B8C-4B6C7241CF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BB87343-E0E5-38EA-6327-2ECC534D6D3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99CA083-62D9-87BF-FA7B-989DC9C947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CD620A0-93ED-66BB-FB9C-133E7F306F5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74451E0-3689-8C3C-BE99-DB7B3F6873C6}"/>
              </a:ext>
            </a:extLst>
          </p:cNvPr>
          <p:cNvSpPr>
            <a:spLocks noGrp="1"/>
          </p:cNvSpPr>
          <p:nvPr>
            <p:ph type="dt" sz="half" idx="10"/>
          </p:nvPr>
        </p:nvSpPr>
        <p:spPr/>
        <p:txBody>
          <a:bodyPr/>
          <a:lstStyle/>
          <a:p>
            <a:fld id="{D71E87E7-5E92-8940-B153-60ED744D45D8}" type="datetimeFigureOut">
              <a:rPr lang="en-US" smtClean="0"/>
              <a:t>1/23/26</a:t>
            </a:fld>
            <a:endParaRPr lang="en-US"/>
          </a:p>
        </p:txBody>
      </p:sp>
      <p:sp>
        <p:nvSpPr>
          <p:cNvPr id="8" name="Footer Placeholder 7">
            <a:extLst>
              <a:ext uri="{FF2B5EF4-FFF2-40B4-BE49-F238E27FC236}">
                <a16:creationId xmlns:a16="http://schemas.microsoft.com/office/drawing/2014/main" id="{40D66BAA-FF85-1A6D-563A-C3021DC81E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F9DE45-EB2D-E1C5-2E0F-BC99E84D408E}"/>
              </a:ext>
            </a:extLst>
          </p:cNvPr>
          <p:cNvSpPr>
            <a:spLocks noGrp="1"/>
          </p:cNvSpPr>
          <p:nvPr>
            <p:ph type="sldNum" sz="quarter" idx="12"/>
          </p:nvPr>
        </p:nvSpPr>
        <p:spPr/>
        <p:txBody>
          <a:bodyPr/>
          <a:lstStyle/>
          <a:p>
            <a:fld id="{AC536B90-48C1-8749-8B13-4D94A38C646D}" type="slidenum">
              <a:rPr lang="en-US" smtClean="0"/>
              <a:t>‹#›</a:t>
            </a:fld>
            <a:endParaRPr lang="en-US"/>
          </a:p>
        </p:txBody>
      </p:sp>
    </p:spTree>
    <p:extLst>
      <p:ext uri="{BB962C8B-B14F-4D97-AF65-F5344CB8AC3E}">
        <p14:creationId xmlns:p14="http://schemas.microsoft.com/office/powerpoint/2010/main" val="219363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FAED6-0EDC-FB3F-B518-E76EFA79523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73013C2-8B5C-3123-72E4-E6BCA195FD86}"/>
              </a:ext>
            </a:extLst>
          </p:cNvPr>
          <p:cNvSpPr>
            <a:spLocks noGrp="1"/>
          </p:cNvSpPr>
          <p:nvPr>
            <p:ph type="dt" sz="half" idx="10"/>
          </p:nvPr>
        </p:nvSpPr>
        <p:spPr/>
        <p:txBody>
          <a:bodyPr/>
          <a:lstStyle/>
          <a:p>
            <a:fld id="{D71E87E7-5E92-8940-B153-60ED744D45D8}" type="datetimeFigureOut">
              <a:rPr lang="en-US" smtClean="0"/>
              <a:t>1/23/26</a:t>
            </a:fld>
            <a:endParaRPr lang="en-US"/>
          </a:p>
        </p:txBody>
      </p:sp>
      <p:sp>
        <p:nvSpPr>
          <p:cNvPr id="4" name="Footer Placeholder 3">
            <a:extLst>
              <a:ext uri="{FF2B5EF4-FFF2-40B4-BE49-F238E27FC236}">
                <a16:creationId xmlns:a16="http://schemas.microsoft.com/office/drawing/2014/main" id="{4DB7F09A-D85D-5C4F-8DB2-7C5FB56CAE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C95794-C187-B828-99EC-F6D5CA5E0123}"/>
              </a:ext>
            </a:extLst>
          </p:cNvPr>
          <p:cNvSpPr>
            <a:spLocks noGrp="1"/>
          </p:cNvSpPr>
          <p:nvPr>
            <p:ph type="sldNum" sz="quarter" idx="12"/>
          </p:nvPr>
        </p:nvSpPr>
        <p:spPr/>
        <p:txBody>
          <a:bodyPr/>
          <a:lstStyle/>
          <a:p>
            <a:fld id="{AC536B90-48C1-8749-8B13-4D94A38C646D}" type="slidenum">
              <a:rPr lang="en-US" smtClean="0"/>
              <a:t>‹#›</a:t>
            </a:fld>
            <a:endParaRPr lang="en-US"/>
          </a:p>
        </p:txBody>
      </p:sp>
    </p:spTree>
    <p:extLst>
      <p:ext uri="{BB962C8B-B14F-4D97-AF65-F5344CB8AC3E}">
        <p14:creationId xmlns:p14="http://schemas.microsoft.com/office/powerpoint/2010/main" val="2345948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CF9E6E-E412-F9E1-FE3F-BAD93F14E2DF}"/>
              </a:ext>
            </a:extLst>
          </p:cNvPr>
          <p:cNvSpPr>
            <a:spLocks noGrp="1"/>
          </p:cNvSpPr>
          <p:nvPr>
            <p:ph type="dt" sz="half" idx="10"/>
          </p:nvPr>
        </p:nvSpPr>
        <p:spPr/>
        <p:txBody>
          <a:bodyPr/>
          <a:lstStyle/>
          <a:p>
            <a:fld id="{D71E87E7-5E92-8940-B153-60ED744D45D8}" type="datetimeFigureOut">
              <a:rPr lang="en-US" smtClean="0"/>
              <a:t>1/23/26</a:t>
            </a:fld>
            <a:endParaRPr lang="en-US"/>
          </a:p>
        </p:txBody>
      </p:sp>
      <p:sp>
        <p:nvSpPr>
          <p:cNvPr id="3" name="Footer Placeholder 2">
            <a:extLst>
              <a:ext uri="{FF2B5EF4-FFF2-40B4-BE49-F238E27FC236}">
                <a16:creationId xmlns:a16="http://schemas.microsoft.com/office/drawing/2014/main" id="{18151773-9D23-A703-2A28-45C9CB821A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909BEE-3C42-B4AB-4411-221D89834F5E}"/>
              </a:ext>
            </a:extLst>
          </p:cNvPr>
          <p:cNvSpPr>
            <a:spLocks noGrp="1"/>
          </p:cNvSpPr>
          <p:nvPr>
            <p:ph type="sldNum" sz="quarter" idx="12"/>
          </p:nvPr>
        </p:nvSpPr>
        <p:spPr/>
        <p:txBody>
          <a:bodyPr/>
          <a:lstStyle/>
          <a:p>
            <a:fld id="{AC536B90-48C1-8749-8B13-4D94A38C646D}" type="slidenum">
              <a:rPr lang="en-US" smtClean="0"/>
              <a:t>‹#›</a:t>
            </a:fld>
            <a:endParaRPr lang="en-US"/>
          </a:p>
        </p:txBody>
      </p:sp>
    </p:spTree>
    <p:extLst>
      <p:ext uri="{BB962C8B-B14F-4D97-AF65-F5344CB8AC3E}">
        <p14:creationId xmlns:p14="http://schemas.microsoft.com/office/powerpoint/2010/main" val="103277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4E854-1F9F-79E8-AD23-5B2B0B9035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7B4F9CA-2F85-CBAF-D1DB-706AB86367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AE42BED-4AEE-6C64-7B9E-5C7BDE9FF1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75FC3BE-D726-EAB7-C546-AF7D7B57769E}"/>
              </a:ext>
            </a:extLst>
          </p:cNvPr>
          <p:cNvSpPr>
            <a:spLocks noGrp="1"/>
          </p:cNvSpPr>
          <p:nvPr>
            <p:ph type="dt" sz="half" idx="10"/>
          </p:nvPr>
        </p:nvSpPr>
        <p:spPr/>
        <p:txBody>
          <a:bodyPr/>
          <a:lstStyle/>
          <a:p>
            <a:fld id="{D71E87E7-5E92-8940-B153-60ED744D45D8}" type="datetimeFigureOut">
              <a:rPr lang="en-US" smtClean="0"/>
              <a:t>1/23/26</a:t>
            </a:fld>
            <a:endParaRPr lang="en-US"/>
          </a:p>
        </p:txBody>
      </p:sp>
      <p:sp>
        <p:nvSpPr>
          <p:cNvPr id="6" name="Footer Placeholder 5">
            <a:extLst>
              <a:ext uri="{FF2B5EF4-FFF2-40B4-BE49-F238E27FC236}">
                <a16:creationId xmlns:a16="http://schemas.microsoft.com/office/drawing/2014/main" id="{B2578340-FEA0-4F95-87F9-E667B8D262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18661F-8D35-D40D-EFBE-379866F8423F}"/>
              </a:ext>
            </a:extLst>
          </p:cNvPr>
          <p:cNvSpPr>
            <a:spLocks noGrp="1"/>
          </p:cNvSpPr>
          <p:nvPr>
            <p:ph type="sldNum" sz="quarter" idx="12"/>
          </p:nvPr>
        </p:nvSpPr>
        <p:spPr/>
        <p:txBody>
          <a:bodyPr/>
          <a:lstStyle/>
          <a:p>
            <a:fld id="{AC536B90-48C1-8749-8B13-4D94A38C646D}" type="slidenum">
              <a:rPr lang="en-US" smtClean="0"/>
              <a:t>‹#›</a:t>
            </a:fld>
            <a:endParaRPr lang="en-US"/>
          </a:p>
        </p:txBody>
      </p:sp>
    </p:spTree>
    <p:extLst>
      <p:ext uri="{BB962C8B-B14F-4D97-AF65-F5344CB8AC3E}">
        <p14:creationId xmlns:p14="http://schemas.microsoft.com/office/powerpoint/2010/main" val="201774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5AA6B-E9A4-95F4-C0BB-EB2828B2217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15EC2B8-17E9-D79A-31DA-2D357909FD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5FC7B0-90A5-4795-A8F4-D4618B0AFF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34F23C5-78A0-EA69-816E-C6A85F7D81D7}"/>
              </a:ext>
            </a:extLst>
          </p:cNvPr>
          <p:cNvSpPr>
            <a:spLocks noGrp="1"/>
          </p:cNvSpPr>
          <p:nvPr>
            <p:ph type="dt" sz="half" idx="10"/>
          </p:nvPr>
        </p:nvSpPr>
        <p:spPr/>
        <p:txBody>
          <a:bodyPr/>
          <a:lstStyle/>
          <a:p>
            <a:fld id="{D71E87E7-5E92-8940-B153-60ED744D45D8}" type="datetimeFigureOut">
              <a:rPr lang="en-US" smtClean="0"/>
              <a:t>1/23/26</a:t>
            </a:fld>
            <a:endParaRPr lang="en-US"/>
          </a:p>
        </p:txBody>
      </p:sp>
      <p:sp>
        <p:nvSpPr>
          <p:cNvPr id="6" name="Footer Placeholder 5">
            <a:extLst>
              <a:ext uri="{FF2B5EF4-FFF2-40B4-BE49-F238E27FC236}">
                <a16:creationId xmlns:a16="http://schemas.microsoft.com/office/drawing/2014/main" id="{21189814-85D8-3A26-C9BE-4D3A169BF0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029643-3B61-A60B-9971-0BF1137307E1}"/>
              </a:ext>
            </a:extLst>
          </p:cNvPr>
          <p:cNvSpPr>
            <a:spLocks noGrp="1"/>
          </p:cNvSpPr>
          <p:nvPr>
            <p:ph type="sldNum" sz="quarter" idx="12"/>
          </p:nvPr>
        </p:nvSpPr>
        <p:spPr/>
        <p:txBody>
          <a:bodyPr/>
          <a:lstStyle/>
          <a:p>
            <a:fld id="{AC536B90-48C1-8749-8B13-4D94A38C646D}" type="slidenum">
              <a:rPr lang="en-US" smtClean="0"/>
              <a:t>‹#›</a:t>
            </a:fld>
            <a:endParaRPr lang="en-US"/>
          </a:p>
        </p:txBody>
      </p:sp>
    </p:spTree>
    <p:extLst>
      <p:ext uri="{BB962C8B-B14F-4D97-AF65-F5344CB8AC3E}">
        <p14:creationId xmlns:p14="http://schemas.microsoft.com/office/powerpoint/2010/main" val="438296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D5B08-44AA-1CE1-4A08-6AF20D0BDAC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5A1B853-C55A-1791-1DFF-A7D0F9EEE31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BB3053-B07B-BE1D-179D-0388E1A63EA9}"/>
              </a:ext>
            </a:extLst>
          </p:cNvPr>
          <p:cNvSpPr>
            <a:spLocks noGrp="1"/>
          </p:cNvSpPr>
          <p:nvPr>
            <p:ph type="dt" sz="half" idx="10"/>
          </p:nvPr>
        </p:nvSpPr>
        <p:spPr/>
        <p:txBody>
          <a:bodyPr/>
          <a:lstStyle/>
          <a:p>
            <a:fld id="{D71E87E7-5E92-8940-B153-60ED744D45D8}" type="datetimeFigureOut">
              <a:rPr lang="en-US" smtClean="0"/>
              <a:t>1/23/26</a:t>
            </a:fld>
            <a:endParaRPr lang="en-US"/>
          </a:p>
        </p:txBody>
      </p:sp>
      <p:sp>
        <p:nvSpPr>
          <p:cNvPr id="5" name="Footer Placeholder 4">
            <a:extLst>
              <a:ext uri="{FF2B5EF4-FFF2-40B4-BE49-F238E27FC236}">
                <a16:creationId xmlns:a16="http://schemas.microsoft.com/office/drawing/2014/main" id="{0E666855-BEB3-4F17-B11C-89277F8D20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B10F3F-0290-7E74-B12F-0C477F79FE54}"/>
              </a:ext>
            </a:extLst>
          </p:cNvPr>
          <p:cNvSpPr>
            <a:spLocks noGrp="1"/>
          </p:cNvSpPr>
          <p:nvPr>
            <p:ph type="sldNum" sz="quarter" idx="12"/>
          </p:nvPr>
        </p:nvSpPr>
        <p:spPr/>
        <p:txBody>
          <a:bodyPr/>
          <a:lstStyle/>
          <a:p>
            <a:fld id="{AC536B90-48C1-8749-8B13-4D94A38C646D}" type="slidenum">
              <a:rPr lang="en-US" smtClean="0"/>
              <a:t>‹#›</a:t>
            </a:fld>
            <a:endParaRPr lang="en-US"/>
          </a:p>
        </p:txBody>
      </p:sp>
    </p:spTree>
    <p:extLst>
      <p:ext uri="{BB962C8B-B14F-4D97-AF65-F5344CB8AC3E}">
        <p14:creationId xmlns:p14="http://schemas.microsoft.com/office/powerpoint/2010/main" val="2441401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C5B063-1C3A-9E3C-D56F-6823C422EC6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1D97567-020C-347E-49B8-4E6ED8AE707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E618947-CD07-C875-0459-7A03D558E80F}"/>
              </a:ext>
            </a:extLst>
          </p:cNvPr>
          <p:cNvSpPr>
            <a:spLocks noGrp="1"/>
          </p:cNvSpPr>
          <p:nvPr>
            <p:ph type="dt" sz="half" idx="10"/>
          </p:nvPr>
        </p:nvSpPr>
        <p:spPr/>
        <p:txBody>
          <a:bodyPr/>
          <a:lstStyle/>
          <a:p>
            <a:fld id="{D71E87E7-5E92-8940-B153-60ED744D45D8}" type="datetimeFigureOut">
              <a:rPr lang="en-US" smtClean="0"/>
              <a:t>1/23/26</a:t>
            </a:fld>
            <a:endParaRPr lang="en-US"/>
          </a:p>
        </p:txBody>
      </p:sp>
      <p:sp>
        <p:nvSpPr>
          <p:cNvPr id="5" name="Footer Placeholder 4">
            <a:extLst>
              <a:ext uri="{FF2B5EF4-FFF2-40B4-BE49-F238E27FC236}">
                <a16:creationId xmlns:a16="http://schemas.microsoft.com/office/drawing/2014/main" id="{73614D0D-C6CE-429D-3185-3DE4D02AC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BC2391-3E45-48D6-AB18-6A74E71A01C3}"/>
              </a:ext>
            </a:extLst>
          </p:cNvPr>
          <p:cNvSpPr>
            <a:spLocks noGrp="1"/>
          </p:cNvSpPr>
          <p:nvPr>
            <p:ph type="sldNum" sz="quarter" idx="12"/>
          </p:nvPr>
        </p:nvSpPr>
        <p:spPr/>
        <p:txBody>
          <a:bodyPr/>
          <a:lstStyle/>
          <a:p>
            <a:fld id="{AC536B90-48C1-8749-8B13-4D94A38C646D}" type="slidenum">
              <a:rPr lang="en-US" smtClean="0"/>
              <a:t>‹#›</a:t>
            </a:fld>
            <a:endParaRPr lang="en-US"/>
          </a:p>
        </p:txBody>
      </p:sp>
    </p:spTree>
    <p:extLst>
      <p:ext uri="{BB962C8B-B14F-4D97-AF65-F5344CB8AC3E}">
        <p14:creationId xmlns:p14="http://schemas.microsoft.com/office/powerpoint/2010/main" val="3616176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57153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78B71E-A9D3-FDDB-BC53-D08D0D9EB5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C9CE94D-2A1D-1875-EFB4-BAE093DE85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545A9F6-DA22-8405-9A8A-17D8101DCB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1E87E7-5E92-8940-B153-60ED744D45D8}" type="datetimeFigureOut">
              <a:rPr lang="en-US" smtClean="0"/>
              <a:t>1/23/26</a:t>
            </a:fld>
            <a:endParaRPr lang="en-US"/>
          </a:p>
        </p:txBody>
      </p:sp>
      <p:sp>
        <p:nvSpPr>
          <p:cNvPr id="5" name="Footer Placeholder 4">
            <a:extLst>
              <a:ext uri="{FF2B5EF4-FFF2-40B4-BE49-F238E27FC236}">
                <a16:creationId xmlns:a16="http://schemas.microsoft.com/office/drawing/2014/main" id="{31EF0F57-F3CD-BEBF-5900-17616E583A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7A415C7-3B7A-CA64-260F-FE88D59EE9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536B90-48C1-8749-8B13-4D94A38C646D}" type="slidenum">
              <a:rPr lang="en-US" smtClean="0"/>
              <a:t>‹#›</a:t>
            </a:fld>
            <a:endParaRPr lang="en-US"/>
          </a:p>
        </p:txBody>
      </p:sp>
    </p:spTree>
    <p:extLst>
      <p:ext uri="{BB962C8B-B14F-4D97-AF65-F5344CB8AC3E}">
        <p14:creationId xmlns:p14="http://schemas.microsoft.com/office/powerpoint/2010/main" val="3033190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51407-7D54-9AC9-FD62-F045E8E17EF7}"/>
              </a:ext>
            </a:extLst>
          </p:cNvPr>
          <p:cNvSpPr>
            <a:spLocks noGrp="1"/>
          </p:cNvSpPr>
          <p:nvPr>
            <p:ph type="ctrTitle"/>
          </p:nvPr>
        </p:nvSpPr>
        <p:spPr/>
        <p:txBody>
          <a:bodyPr/>
          <a:lstStyle/>
          <a:p>
            <a:r>
              <a:rPr lang="en-US" dirty="0"/>
              <a:t>Information Processing </a:t>
            </a:r>
            <a:br>
              <a:rPr lang="en-US" dirty="0"/>
            </a:br>
            <a:r>
              <a:rPr lang="en-US" sz="4000" dirty="0"/>
              <a:t>Week 4</a:t>
            </a:r>
          </a:p>
        </p:txBody>
      </p:sp>
      <p:sp>
        <p:nvSpPr>
          <p:cNvPr id="3" name="Subtitle 2">
            <a:extLst>
              <a:ext uri="{FF2B5EF4-FFF2-40B4-BE49-F238E27FC236}">
                <a16:creationId xmlns:a16="http://schemas.microsoft.com/office/drawing/2014/main" id="{29E8F993-6285-E83B-52F1-37F48871B494}"/>
              </a:ext>
            </a:extLst>
          </p:cNvPr>
          <p:cNvSpPr>
            <a:spLocks noGrp="1"/>
          </p:cNvSpPr>
          <p:nvPr>
            <p:ph type="subTitle" idx="1"/>
          </p:nvPr>
        </p:nvSpPr>
        <p:spPr/>
        <p:txBody>
          <a:bodyPr/>
          <a:lstStyle/>
          <a:p>
            <a:endParaRPr lang="en-US" b="1" dirty="0"/>
          </a:p>
          <a:p>
            <a:r>
              <a:rPr lang="en-US" b="1" dirty="0"/>
              <a:t>Cloud Services, Client-Server, NoSQL Database </a:t>
            </a:r>
          </a:p>
        </p:txBody>
      </p:sp>
    </p:spTree>
    <p:extLst>
      <p:ext uri="{BB962C8B-B14F-4D97-AF65-F5344CB8AC3E}">
        <p14:creationId xmlns:p14="http://schemas.microsoft.com/office/powerpoint/2010/main" val="2677011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8DB35-9C4E-580E-E922-640D58A07884}"/>
              </a:ext>
            </a:extLst>
          </p:cNvPr>
          <p:cNvSpPr>
            <a:spLocks noGrp="1"/>
          </p:cNvSpPr>
          <p:nvPr>
            <p:ph type="title"/>
          </p:nvPr>
        </p:nvSpPr>
        <p:spPr/>
        <p:txBody>
          <a:bodyPr/>
          <a:lstStyle/>
          <a:p>
            <a:pPr algn="ctr"/>
            <a:r>
              <a:rPr lang="en-US" b="1" dirty="0"/>
              <a:t>Today’s Topics</a:t>
            </a:r>
          </a:p>
        </p:txBody>
      </p:sp>
      <p:sp>
        <p:nvSpPr>
          <p:cNvPr id="3" name="Content Placeholder 2">
            <a:extLst>
              <a:ext uri="{FF2B5EF4-FFF2-40B4-BE49-F238E27FC236}">
                <a16:creationId xmlns:a16="http://schemas.microsoft.com/office/drawing/2014/main" id="{AF68C6B1-972C-BD98-09FF-8E12AE9DDBD4}"/>
              </a:ext>
            </a:extLst>
          </p:cNvPr>
          <p:cNvSpPr>
            <a:spLocks noGrp="1"/>
          </p:cNvSpPr>
          <p:nvPr>
            <p:ph idx="1"/>
          </p:nvPr>
        </p:nvSpPr>
        <p:spPr/>
        <p:txBody>
          <a:bodyPr>
            <a:normAutofit fontScale="92500" lnSpcReduction="10000"/>
          </a:bodyPr>
          <a:lstStyle/>
          <a:p>
            <a:r>
              <a:rPr lang="en-US" dirty="0"/>
              <a:t>This presentation describes the activities covered in Lab 4</a:t>
            </a:r>
          </a:p>
          <a:p>
            <a:pPr lvl="1"/>
            <a:r>
              <a:rPr lang="en-US" b="1" dirty="0"/>
              <a:t>AWS Connectivity, Client-Server, NoSQL Database</a:t>
            </a:r>
            <a:endParaRPr lang="en-US" dirty="0"/>
          </a:p>
          <a:p>
            <a:r>
              <a:rPr lang="en-US" dirty="0"/>
              <a:t>The presentation has two parts:</a:t>
            </a:r>
          </a:p>
          <a:p>
            <a:pPr lvl="1"/>
            <a:r>
              <a:rPr lang="en-US" b="1" dirty="0"/>
              <a:t>Part I</a:t>
            </a:r>
            <a:r>
              <a:rPr lang="en-US" dirty="0"/>
              <a:t>: Describes how to make some basic use of a cloud platform to run your server-side apps</a:t>
            </a:r>
          </a:p>
          <a:p>
            <a:pPr lvl="2"/>
            <a:r>
              <a:rPr lang="en-US" dirty="0"/>
              <a:t>How to remotely configure a virtual server on the cloud platform (Amazon’s AWS is taken as an example)</a:t>
            </a:r>
          </a:p>
          <a:p>
            <a:pPr lvl="2"/>
            <a:r>
              <a:rPr lang="en-US" dirty="0"/>
              <a:t>How to make local apps communicate with remote apps running on the cloud</a:t>
            </a:r>
          </a:p>
          <a:p>
            <a:pPr lvl="2"/>
            <a:r>
              <a:rPr lang="en-US" dirty="0"/>
              <a:t>In particular: approaches to multi-client handling</a:t>
            </a:r>
          </a:p>
          <a:p>
            <a:pPr lvl="1"/>
            <a:r>
              <a:rPr lang="en-US" b="1" dirty="0"/>
              <a:t>Part II</a:t>
            </a:r>
            <a:r>
              <a:rPr lang="en-US" dirty="0"/>
              <a:t>: Describes how to use a database on a reliable remote server to implement persistence features in your apps</a:t>
            </a:r>
          </a:p>
          <a:p>
            <a:pPr lvl="2"/>
            <a:r>
              <a:rPr lang="en-US" dirty="0"/>
              <a:t>How to perform basic CRUD (Create, Read, Update, Delete) and other operations on the database from your server-side code   </a:t>
            </a:r>
          </a:p>
        </p:txBody>
      </p:sp>
    </p:spTree>
    <p:extLst>
      <p:ext uri="{BB962C8B-B14F-4D97-AF65-F5344CB8AC3E}">
        <p14:creationId xmlns:p14="http://schemas.microsoft.com/office/powerpoint/2010/main" val="856141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A1973-6363-6717-6058-F280C71FD122}"/>
              </a:ext>
            </a:extLst>
          </p:cNvPr>
          <p:cNvSpPr>
            <a:spLocks noGrp="1"/>
          </p:cNvSpPr>
          <p:nvPr>
            <p:ph type="title"/>
          </p:nvPr>
        </p:nvSpPr>
        <p:spPr/>
        <p:txBody>
          <a:bodyPr/>
          <a:lstStyle/>
          <a:p>
            <a:pPr algn="ctr"/>
            <a:r>
              <a:rPr lang="en-US" b="1" dirty="0"/>
              <a:t>Intended Leaning Outcomes</a:t>
            </a:r>
          </a:p>
        </p:txBody>
      </p:sp>
      <p:sp>
        <p:nvSpPr>
          <p:cNvPr id="3" name="Content Placeholder 2">
            <a:extLst>
              <a:ext uri="{FF2B5EF4-FFF2-40B4-BE49-F238E27FC236}">
                <a16:creationId xmlns:a16="http://schemas.microsoft.com/office/drawing/2014/main" id="{4028359D-4B7F-02BB-7A0E-22998FB12C26}"/>
              </a:ext>
            </a:extLst>
          </p:cNvPr>
          <p:cNvSpPr>
            <a:spLocks noGrp="1"/>
          </p:cNvSpPr>
          <p:nvPr>
            <p:ph idx="1"/>
          </p:nvPr>
        </p:nvSpPr>
        <p:spPr/>
        <p:txBody>
          <a:bodyPr>
            <a:normAutofit lnSpcReduction="10000"/>
          </a:bodyPr>
          <a:lstStyle/>
          <a:p>
            <a:pPr marL="0" indent="0">
              <a:buNone/>
            </a:pPr>
            <a:r>
              <a:rPr lang="en-GB" dirty="0"/>
              <a:t>After this week’s discussion, you will be able to:</a:t>
            </a:r>
          </a:p>
          <a:p>
            <a:pPr marL="0" indent="0">
              <a:buNone/>
            </a:pPr>
            <a:endParaRPr lang="en-GB" dirty="0"/>
          </a:p>
          <a:p>
            <a:r>
              <a:rPr lang="en-GB" dirty="0"/>
              <a:t>Implement a realistic cloud-based server capable of handling multiple concurrent clients using different concurrency models</a:t>
            </a:r>
          </a:p>
          <a:p>
            <a:endParaRPr lang="en-GB" dirty="0"/>
          </a:p>
          <a:p>
            <a:r>
              <a:rPr lang="en-GB" dirty="0"/>
              <a:t>Select appropriate server implementation strategies based on workload and design requirements</a:t>
            </a:r>
          </a:p>
          <a:p>
            <a:endParaRPr lang="en-GB" dirty="0"/>
          </a:p>
          <a:p>
            <a:r>
              <a:rPr lang="en-GB" dirty="0"/>
              <a:t>Integrate a NoSQL database with server code, design efficient queries, and evaluate their performance trade-offs</a:t>
            </a:r>
          </a:p>
        </p:txBody>
      </p:sp>
    </p:spTree>
    <p:extLst>
      <p:ext uri="{BB962C8B-B14F-4D97-AF65-F5344CB8AC3E}">
        <p14:creationId xmlns:p14="http://schemas.microsoft.com/office/powerpoint/2010/main" val="3485309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50859-58D8-892E-6770-0A44002BAF17}"/>
              </a:ext>
            </a:extLst>
          </p:cNvPr>
          <p:cNvSpPr>
            <a:spLocks noGrp="1"/>
          </p:cNvSpPr>
          <p:nvPr>
            <p:ph type="title"/>
          </p:nvPr>
        </p:nvSpPr>
        <p:spPr/>
        <p:txBody>
          <a:bodyPr/>
          <a:lstStyle/>
          <a:p>
            <a:pPr algn="ctr"/>
            <a:r>
              <a:rPr lang="en-US" b="1" dirty="0"/>
              <a:t>Architecture of a Typical IoT System</a:t>
            </a:r>
          </a:p>
        </p:txBody>
      </p:sp>
      <p:sp>
        <p:nvSpPr>
          <p:cNvPr id="3" name="Content Placeholder 2">
            <a:extLst>
              <a:ext uri="{FF2B5EF4-FFF2-40B4-BE49-F238E27FC236}">
                <a16:creationId xmlns:a16="http://schemas.microsoft.com/office/drawing/2014/main" id="{EAFDBC1A-5875-7480-D56A-DDA5D4E3548C}"/>
              </a:ext>
            </a:extLst>
          </p:cNvPr>
          <p:cNvSpPr>
            <a:spLocks noGrp="1"/>
          </p:cNvSpPr>
          <p:nvPr>
            <p:ph sz="half" idx="1"/>
          </p:nvPr>
        </p:nvSpPr>
        <p:spPr>
          <a:xfrm>
            <a:off x="1363318" y="1690688"/>
            <a:ext cx="5181600" cy="4351338"/>
          </a:xfrm>
        </p:spPr>
        <p:txBody>
          <a:bodyPr>
            <a:normAutofit fontScale="55000" lnSpcReduction="20000"/>
          </a:bodyPr>
          <a:lstStyle/>
          <a:p>
            <a:pPr marL="0" indent="0">
              <a:buNone/>
            </a:pPr>
            <a:r>
              <a:rPr lang="en-US" dirty="0"/>
              <a:t>Roughly mapping your current system nodes to the three tiers:</a:t>
            </a:r>
          </a:p>
          <a:p>
            <a:r>
              <a:rPr lang="en-US" b="1" dirty="0"/>
              <a:t>Tier 1 — IoT / Edge devices</a:t>
            </a:r>
          </a:p>
          <a:p>
            <a:pPr lvl="1"/>
            <a:r>
              <a:rPr lang="en-GB" dirty="0"/>
              <a:t>Closest to the physical system; perform low-latency, hardware-coupled computation and control, e.g., Zynq board (PS + PL with hardware acceleration, etc.)</a:t>
            </a:r>
          </a:p>
          <a:p>
            <a:r>
              <a:rPr lang="en-GB" b="1" dirty="0"/>
              <a:t>Tier 2 — Fog / Edge Computing</a:t>
            </a:r>
          </a:p>
          <a:p>
            <a:pPr lvl="1"/>
            <a:r>
              <a:rPr lang="en-GB" dirty="0"/>
              <a:t>Local intermediary layer for aggregation, preprocessing, control, and cloud communication, e.g., local laptop / local computing component (interface to Zynq PS, AWS client)</a:t>
            </a:r>
          </a:p>
          <a:p>
            <a:r>
              <a:rPr lang="en-GB" b="1" dirty="0"/>
              <a:t>Tier 3 — Cloud computing</a:t>
            </a:r>
          </a:p>
          <a:p>
            <a:pPr lvl="1"/>
            <a:r>
              <a:rPr lang="en-GB" dirty="0"/>
              <a:t>Centralised, elastic compute and storage for coordination, services, and long-term data, e.g., AWS server, AWS database</a:t>
            </a:r>
          </a:p>
          <a:p>
            <a:pPr lvl="1"/>
            <a:endParaRPr lang="en-GB" dirty="0"/>
          </a:p>
          <a:p>
            <a:pPr marL="0" indent="0">
              <a:buNone/>
            </a:pPr>
            <a:r>
              <a:rPr lang="en-GB" dirty="0"/>
              <a:t>The centralized Tier-3 cloud layer enables wide and remote access to the application by providing globally reachable services and shared state.</a:t>
            </a:r>
          </a:p>
          <a:p>
            <a:pPr marL="0" indent="0">
              <a:buNone/>
            </a:pPr>
            <a:endParaRPr lang="en-GB" dirty="0"/>
          </a:p>
          <a:p>
            <a:pPr marL="0" indent="0">
              <a:buNone/>
            </a:pPr>
            <a:r>
              <a:rPr lang="en-GB" dirty="0"/>
              <a:t>Database belongs in Tier 3 to provide global, persistent, shared state, especially when multiple fog nodes are involved.</a:t>
            </a:r>
            <a:endParaRPr lang="en-US" dirty="0"/>
          </a:p>
          <a:p>
            <a:pPr lvl="1"/>
            <a:endParaRPr lang="en-US" dirty="0"/>
          </a:p>
        </p:txBody>
      </p:sp>
      <p:pic>
        <p:nvPicPr>
          <p:cNvPr id="6" name="Content Placeholder 5">
            <a:extLst>
              <a:ext uri="{FF2B5EF4-FFF2-40B4-BE49-F238E27FC236}">
                <a16:creationId xmlns:a16="http://schemas.microsoft.com/office/drawing/2014/main" id="{1B4BF925-AF0D-8348-31E1-CC2A1FD6B831}"/>
              </a:ext>
            </a:extLst>
          </p:cNvPr>
          <p:cNvPicPr>
            <a:picLocks noGrp="1" noChangeAspect="1"/>
          </p:cNvPicPr>
          <p:nvPr>
            <p:ph sz="half" idx="2"/>
          </p:nvPr>
        </p:nvPicPr>
        <p:blipFill>
          <a:blip r:embed="rId3"/>
          <a:stretch>
            <a:fillRect/>
          </a:stretch>
        </p:blipFill>
        <p:spPr>
          <a:xfrm>
            <a:off x="6723270" y="1772584"/>
            <a:ext cx="3969026" cy="4472345"/>
          </a:xfrm>
        </p:spPr>
      </p:pic>
      <p:sp>
        <p:nvSpPr>
          <p:cNvPr id="7" name="TextBox 6">
            <a:extLst>
              <a:ext uri="{FF2B5EF4-FFF2-40B4-BE49-F238E27FC236}">
                <a16:creationId xmlns:a16="http://schemas.microsoft.com/office/drawing/2014/main" id="{1E952153-90C3-EB25-B6F0-003E5BA1AF8D}"/>
              </a:ext>
            </a:extLst>
          </p:cNvPr>
          <p:cNvSpPr txBox="1"/>
          <p:nvPr/>
        </p:nvSpPr>
        <p:spPr>
          <a:xfrm>
            <a:off x="6723339" y="6359783"/>
            <a:ext cx="4437882" cy="369332"/>
          </a:xfrm>
          <a:prstGeom prst="rect">
            <a:avLst/>
          </a:prstGeom>
          <a:noFill/>
        </p:spPr>
        <p:txBody>
          <a:bodyPr wrap="none" rtlCol="0">
            <a:spAutoFit/>
          </a:bodyPr>
          <a:lstStyle/>
          <a:p>
            <a:r>
              <a:rPr lang="en-US" dirty="0"/>
              <a:t>Three-tier architecture of a typical IoT system</a:t>
            </a:r>
          </a:p>
        </p:txBody>
      </p:sp>
      <p:sp>
        <p:nvSpPr>
          <p:cNvPr id="8" name="TextBox 7">
            <a:extLst>
              <a:ext uri="{FF2B5EF4-FFF2-40B4-BE49-F238E27FC236}">
                <a16:creationId xmlns:a16="http://schemas.microsoft.com/office/drawing/2014/main" id="{21316ABA-E0E9-C557-3544-AAC90B06F8D2}"/>
              </a:ext>
            </a:extLst>
          </p:cNvPr>
          <p:cNvSpPr txBox="1"/>
          <p:nvPr/>
        </p:nvSpPr>
        <p:spPr>
          <a:xfrm>
            <a:off x="1011721" y="5805785"/>
            <a:ext cx="5622373" cy="923330"/>
          </a:xfrm>
          <a:prstGeom prst="rect">
            <a:avLst/>
          </a:prstGeom>
          <a:noFill/>
          <a:ln>
            <a:solidFill>
              <a:srgbClr val="FF0000"/>
            </a:solidFill>
          </a:ln>
        </p:spPr>
        <p:txBody>
          <a:bodyPr wrap="none" rtlCol="0">
            <a:spAutoFit/>
          </a:bodyPr>
          <a:lstStyle/>
          <a:p>
            <a:r>
              <a:rPr lang="en-GB" b="1" dirty="0"/>
              <a:t>Communication</a:t>
            </a:r>
            <a:r>
              <a:rPr lang="en-GB" dirty="0"/>
              <a:t> between tiers is  handled over</a:t>
            </a:r>
            <a:r>
              <a:rPr lang="en-GB" b="1" dirty="0"/>
              <a:t> networked</a:t>
            </a:r>
          </a:p>
          <a:p>
            <a:r>
              <a:rPr lang="en-GB" b="1" dirty="0"/>
              <a:t> interfaces</a:t>
            </a:r>
            <a:r>
              <a:rPr lang="en-GB" dirty="0"/>
              <a:t>, with Tier-2 acting as the gateway </a:t>
            </a:r>
          </a:p>
          <a:p>
            <a:r>
              <a:rPr lang="en-GB" dirty="0"/>
              <a:t>between edge devices and cloud services.</a:t>
            </a:r>
            <a:endParaRPr lang="en-US" dirty="0"/>
          </a:p>
        </p:txBody>
      </p:sp>
    </p:spTree>
    <p:extLst>
      <p:ext uri="{BB962C8B-B14F-4D97-AF65-F5344CB8AC3E}">
        <p14:creationId xmlns:p14="http://schemas.microsoft.com/office/powerpoint/2010/main" val="1140543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7DDEB-D61E-5276-5B05-8F1B125EA21C}"/>
              </a:ext>
            </a:extLst>
          </p:cNvPr>
          <p:cNvSpPr>
            <a:spLocks noGrp="1"/>
          </p:cNvSpPr>
          <p:nvPr>
            <p:ph type="title"/>
          </p:nvPr>
        </p:nvSpPr>
        <p:spPr/>
        <p:txBody>
          <a:bodyPr/>
          <a:lstStyle/>
          <a:p>
            <a:pPr algn="ctr"/>
            <a:r>
              <a:rPr lang="en-US" b="1" dirty="0"/>
              <a:t>Cloud Computing – What is it?</a:t>
            </a:r>
          </a:p>
        </p:txBody>
      </p:sp>
      <p:sp>
        <p:nvSpPr>
          <p:cNvPr id="3" name="Content Placeholder 2">
            <a:extLst>
              <a:ext uri="{FF2B5EF4-FFF2-40B4-BE49-F238E27FC236}">
                <a16:creationId xmlns:a16="http://schemas.microsoft.com/office/drawing/2014/main" id="{FBC7C2D7-465E-9A75-C8BE-A3F306B3B3F4}"/>
              </a:ext>
            </a:extLst>
          </p:cNvPr>
          <p:cNvSpPr>
            <a:spLocks noGrp="1"/>
          </p:cNvSpPr>
          <p:nvPr>
            <p:ph idx="1"/>
          </p:nvPr>
        </p:nvSpPr>
        <p:spPr/>
        <p:txBody>
          <a:bodyPr>
            <a:normAutofit fontScale="92500" lnSpcReduction="20000"/>
          </a:bodyPr>
          <a:lstStyle/>
          <a:p>
            <a:r>
              <a:rPr lang="en-US" dirty="0"/>
              <a:t>“Cloud computing is an information technology (IT) paradigm that enables </a:t>
            </a:r>
            <a:r>
              <a:rPr lang="en-US" u="sng" dirty="0"/>
              <a:t>ubiquitous access</a:t>
            </a:r>
            <a:r>
              <a:rPr lang="en-US" dirty="0"/>
              <a:t> to </a:t>
            </a:r>
            <a:r>
              <a:rPr lang="en-US" u="sng" dirty="0"/>
              <a:t>shared</a:t>
            </a:r>
            <a:r>
              <a:rPr lang="en-US" dirty="0"/>
              <a:t> pools of configurable system resources and </a:t>
            </a:r>
            <a:r>
              <a:rPr lang="en-US" u="sng" dirty="0"/>
              <a:t>higher-level services </a:t>
            </a:r>
            <a:r>
              <a:rPr lang="en-US" dirty="0"/>
              <a:t>that can </a:t>
            </a:r>
            <a:r>
              <a:rPr lang="en-US" u="sng" dirty="0"/>
              <a:t>be rapidly provisioned</a:t>
            </a:r>
            <a:r>
              <a:rPr lang="en-US" dirty="0"/>
              <a:t> with </a:t>
            </a:r>
            <a:r>
              <a:rPr lang="en-US" u="sng" dirty="0"/>
              <a:t>minimal management effort</a:t>
            </a:r>
            <a:r>
              <a:rPr lang="en-US" dirty="0"/>
              <a:t>, often over the Internet. Cloud computing relies on sharing of resources to achieve coherence and economies of scale, similar to a public utility.” </a:t>
            </a:r>
          </a:p>
          <a:p>
            <a:r>
              <a:rPr lang="en-GB" dirty="0"/>
              <a:t>“Simply put, cloud computing is the </a:t>
            </a:r>
            <a:r>
              <a:rPr lang="en-GB" u="sng" dirty="0"/>
              <a:t>delivery of computing services – servers, storage, databases, networking, software, analytics and more – over the Internet </a:t>
            </a:r>
            <a:r>
              <a:rPr lang="en-GB" dirty="0"/>
              <a:t>(“the cloud”). Companies offering these computing services are called cloud providers and typically charge for cloud computing services based on usage, similar to how you’re billed for gas or electricity at home.” </a:t>
            </a:r>
          </a:p>
          <a:p>
            <a:pPr marL="0" indent="0">
              <a:buNone/>
            </a:pPr>
            <a:r>
              <a:rPr lang="en-GB" dirty="0"/>
              <a:t>  https://</a:t>
            </a:r>
            <a:r>
              <a:rPr lang="en-GB" dirty="0" err="1"/>
              <a:t>azure.microsoft.com</a:t>
            </a:r>
            <a:r>
              <a:rPr lang="en-GB" dirty="0"/>
              <a:t>/</a:t>
            </a:r>
            <a:r>
              <a:rPr lang="en-GB" dirty="0" err="1"/>
              <a:t>en-gb</a:t>
            </a:r>
            <a:r>
              <a:rPr lang="en-GB" dirty="0"/>
              <a:t>/overview/what-is-cloud-computing/ </a:t>
            </a:r>
          </a:p>
          <a:p>
            <a:pPr marL="0" indent="0">
              <a:buNone/>
            </a:pPr>
            <a:endParaRPr lang="en-GB" dirty="0"/>
          </a:p>
          <a:p>
            <a:endParaRPr lang="en-GB" dirty="0">
              <a:effectLst/>
            </a:endParaRPr>
          </a:p>
          <a:p>
            <a:endParaRPr lang="en-US" dirty="0"/>
          </a:p>
        </p:txBody>
      </p:sp>
    </p:spTree>
    <p:extLst>
      <p:ext uri="{BB962C8B-B14F-4D97-AF65-F5344CB8AC3E}">
        <p14:creationId xmlns:p14="http://schemas.microsoft.com/office/powerpoint/2010/main" val="1977672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40A3F-817C-0F42-E7F8-5267984A004A}"/>
              </a:ext>
            </a:extLst>
          </p:cNvPr>
          <p:cNvSpPr>
            <a:spLocks noGrp="1"/>
          </p:cNvSpPr>
          <p:nvPr>
            <p:ph type="title"/>
          </p:nvPr>
        </p:nvSpPr>
        <p:spPr/>
        <p:txBody>
          <a:bodyPr/>
          <a:lstStyle/>
          <a:p>
            <a:r>
              <a:rPr lang="en-US" b="1" dirty="0"/>
              <a:t>Cloud Delivery Models</a:t>
            </a:r>
          </a:p>
        </p:txBody>
      </p:sp>
      <p:pic>
        <p:nvPicPr>
          <p:cNvPr id="1026" name="Picture 2">
            <a:extLst>
              <a:ext uri="{FF2B5EF4-FFF2-40B4-BE49-F238E27FC236}">
                <a16:creationId xmlns:a16="http://schemas.microsoft.com/office/drawing/2014/main" id="{495AC3AF-5923-F563-674D-455BE3BBC8E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641952" y="1296965"/>
            <a:ext cx="4198144" cy="519591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A247BF7-322C-1B58-222C-37DC390390CF}"/>
              </a:ext>
            </a:extLst>
          </p:cNvPr>
          <p:cNvSpPr txBox="1"/>
          <p:nvPr/>
        </p:nvSpPr>
        <p:spPr>
          <a:xfrm>
            <a:off x="723564" y="1875790"/>
            <a:ext cx="5561927" cy="4431983"/>
          </a:xfrm>
          <a:prstGeom prst="rect">
            <a:avLst/>
          </a:prstGeom>
          <a:noFill/>
          <a:ln>
            <a:solidFill>
              <a:schemeClr val="accent1"/>
            </a:solidFill>
          </a:ln>
        </p:spPr>
        <p:txBody>
          <a:bodyPr wrap="square" rtlCol="0">
            <a:spAutoFit/>
          </a:bodyPr>
          <a:lstStyle/>
          <a:p>
            <a:r>
              <a:rPr lang="en-US" sz="2800" b="1" dirty="0"/>
              <a:t>Our Use Case</a:t>
            </a:r>
          </a:p>
          <a:p>
            <a:endParaRPr lang="en-US" sz="2800" b="1" dirty="0"/>
          </a:p>
          <a:p>
            <a:r>
              <a:rPr lang="en-US" sz="2800" b="1" dirty="0"/>
              <a:t>IaaS: Infrastructure as a Service</a:t>
            </a:r>
          </a:p>
          <a:p>
            <a:endParaRPr lang="en-US" b="1" dirty="0"/>
          </a:p>
          <a:p>
            <a:r>
              <a:rPr lang="en-US" dirty="0"/>
              <a:t>The consumer is able to deploy and run arbitrary software,  which can include operating systems and applications. </a:t>
            </a:r>
          </a:p>
          <a:p>
            <a:endParaRPr lang="en-US" dirty="0"/>
          </a:p>
          <a:p>
            <a:r>
              <a:rPr lang="en-US" dirty="0"/>
              <a:t>The consumer does not manage or control the underlying </a:t>
            </a:r>
          </a:p>
          <a:p>
            <a:r>
              <a:rPr lang="en-US" dirty="0"/>
              <a:t>cloud infrastructure (hardware) but has control over </a:t>
            </a:r>
          </a:p>
          <a:p>
            <a:r>
              <a:rPr lang="en-US" dirty="0"/>
              <a:t>operating systems, storage, and deployed applications; </a:t>
            </a:r>
          </a:p>
          <a:p>
            <a:r>
              <a:rPr lang="en-US" dirty="0"/>
              <a:t>and possibly limited control of select networking </a:t>
            </a:r>
          </a:p>
          <a:p>
            <a:r>
              <a:rPr lang="en-US" dirty="0"/>
              <a:t>components (e.g., host firewalls).</a:t>
            </a:r>
          </a:p>
          <a:p>
            <a:endParaRPr lang="en-US" dirty="0"/>
          </a:p>
        </p:txBody>
      </p:sp>
    </p:spTree>
    <p:extLst>
      <p:ext uri="{BB962C8B-B14F-4D97-AF65-F5344CB8AC3E}">
        <p14:creationId xmlns:p14="http://schemas.microsoft.com/office/powerpoint/2010/main" val="1179422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DC873-2BDA-837D-7393-CD4D4B278066}"/>
              </a:ext>
            </a:extLst>
          </p:cNvPr>
          <p:cNvSpPr>
            <a:spLocks noGrp="1"/>
          </p:cNvSpPr>
          <p:nvPr>
            <p:ph type="title"/>
          </p:nvPr>
        </p:nvSpPr>
        <p:spPr/>
        <p:txBody>
          <a:bodyPr/>
          <a:lstStyle/>
          <a:p>
            <a:r>
              <a:rPr lang="en-US" b="1" dirty="0"/>
              <a:t>Your Project Setup</a:t>
            </a:r>
          </a:p>
        </p:txBody>
      </p:sp>
      <p:sp>
        <p:nvSpPr>
          <p:cNvPr id="3" name="Content Placeholder 2">
            <a:extLst>
              <a:ext uri="{FF2B5EF4-FFF2-40B4-BE49-F238E27FC236}">
                <a16:creationId xmlns:a16="http://schemas.microsoft.com/office/drawing/2014/main" id="{2099B6B6-9096-5179-E510-3BE9A499863C}"/>
              </a:ext>
            </a:extLst>
          </p:cNvPr>
          <p:cNvSpPr>
            <a:spLocks noGrp="1"/>
          </p:cNvSpPr>
          <p:nvPr>
            <p:ph idx="1"/>
          </p:nvPr>
        </p:nvSpPr>
        <p:spPr/>
        <p:txBody>
          <a:bodyPr/>
          <a:lstStyle/>
          <a:p>
            <a:endParaRPr lang="en-US" dirty="0"/>
          </a:p>
          <a:p>
            <a:endParaRPr lang="en-US" dirty="0"/>
          </a:p>
        </p:txBody>
      </p:sp>
      <p:sp>
        <p:nvSpPr>
          <p:cNvPr id="4" name="Rectangle 3">
            <a:extLst>
              <a:ext uri="{FF2B5EF4-FFF2-40B4-BE49-F238E27FC236}">
                <a16:creationId xmlns:a16="http://schemas.microsoft.com/office/drawing/2014/main" id="{21560F5C-1E73-396F-E3EF-A67B25C08886}"/>
              </a:ext>
            </a:extLst>
          </p:cNvPr>
          <p:cNvSpPr/>
          <p:nvPr/>
        </p:nvSpPr>
        <p:spPr>
          <a:xfrm>
            <a:off x="1183532" y="2768754"/>
            <a:ext cx="2714625" cy="21145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FPGA + On-board processing</a:t>
            </a:r>
          </a:p>
        </p:txBody>
      </p:sp>
      <p:sp>
        <p:nvSpPr>
          <p:cNvPr id="5" name="Magnetic Disk 4">
            <a:extLst>
              <a:ext uri="{FF2B5EF4-FFF2-40B4-BE49-F238E27FC236}">
                <a16:creationId xmlns:a16="http://schemas.microsoft.com/office/drawing/2014/main" id="{8B8EBDA7-A4C1-AD67-38BC-C846245E7CE5}"/>
              </a:ext>
            </a:extLst>
          </p:cNvPr>
          <p:cNvSpPr/>
          <p:nvPr/>
        </p:nvSpPr>
        <p:spPr>
          <a:xfrm>
            <a:off x="9328548" y="1594771"/>
            <a:ext cx="1371600" cy="612648"/>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Database</a:t>
            </a:r>
          </a:p>
          <a:p>
            <a:pPr algn="ctr"/>
            <a:r>
              <a:rPr lang="en-US" dirty="0"/>
              <a:t>(DynamoDB)</a:t>
            </a:r>
          </a:p>
        </p:txBody>
      </p:sp>
      <p:sp>
        <p:nvSpPr>
          <p:cNvPr id="6" name="Rectangle 5">
            <a:extLst>
              <a:ext uri="{FF2B5EF4-FFF2-40B4-BE49-F238E27FC236}">
                <a16:creationId xmlns:a16="http://schemas.microsoft.com/office/drawing/2014/main" id="{CC7015D1-1E8F-55EC-E34A-7698987229E9}"/>
              </a:ext>
            </a:extLst>
          </p:cNvPr>
          <p:cNvSpPr/>
          <p:nvPr/>
        </p:nvSpPr>
        <p:spPr>
          <a:xfrm>
            <a:off x="5262564" y="3200400"/>
            <a:ext cx="1409698" cy="1251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Local node</a:t>
            </a:r>
          </a:p>
          <a:p>
            <a:pPr algn="ctr"/>
            <a:r>
              <a:rPr lang="en-US" dirty="0"/>
              <a:t>(laptop)</a:t>
            </a:r>
          </a:p>
        </p:txBody>
      </p:sp>
      <p:sp>
        <p:nvSpPr>
          <p:cNvPr id="7" name="Rectangle 6">
            <a:extLst>
              <a:ext uri="{FF2B5EF4-FFF2-40B4-BE49-F238E27FC236}">
                <a16:creationId xmlns:a16="http://schemas.microsoft.com/office/drawing/2014/main" id="{C28D16EB-9ED8-8E94-5846-046B127678DD}"/>
              </a:ext>
            </a:extLst>
          </p:cNvPr>
          <p:cNvSpPr/>
          <p:nvPr/>
        </p:nvSpPr>
        <p:spPr>
          <a:xfrm>
            <a:off x="8848725" y="3028156"/>
            <a:ext cx="2019299" cy="1300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EC2</a:t>
            </a:r>
          </a:p>
        </p:txBody>
      </p:sp>
      <p:sp>
        <p:nvSpPr>
          <p:cNvPr id="8" name="Cloud 7">
            <a:extLst>
              <a:ext uri="{FF2B5EF4-FFF2-40B4-BE49-F238E27FC236}">
                <a16:creationId xmlns:a16="http://schemas.microsoft.com/office/drawing/2014/main" id="{AE5C8EC0-878B-BAC1-128D-D402C0E19B47}"/>
              </a:ext>
            </a:extLst>
          </p:cNvPr>
          <p:cNvSpPr/>
          <p:nvPr/>
        </p:nvSpPr>
        <p:spPr>
          <a:xfrm>
            <a:off x="8015288" y="811212"/>
            <a:ext cx="3686175" cy="4332288"/>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9DF6046-74F9-90FD-EC1D-5243F9B4D01E}"/>
              </a:ext>
            </a:extLst>
          </p:cNvPr>
          <p:cNvCxnSpPr>
            <a:cxnSpLocks/>
            <a:stCxn id="4" idx="3"/>
            <a:endCxn id="6" idx="1"/>
          </p:cNvCxnSpPr>
          <p:nvPr/>
        </p:nvCxnSpPr>
        <p:spPr>
          <a:xfrm>
            <a:off x="3898157" y="3826029"/>
            <a:ext cx="1364407" cy="0"/>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6769BA2-29B0-847A-5104-1076A6AFDFD3}"/>
              </a:ext>
            </a:extLst>
          </p:cNvPr>
          <p:cNvCxnSpPr>
            <a:cxnSpLocks/>
          </p:cNvCxnSpPr>
          <p:nvPr/>
        </p:nvCxnSpPr>
        <p:spPr>
          <a:xfrm flipV="1">
            <a:off x="6672262" y="3690464"/>
            <a:ext cx="2255093" cy="16042"/>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B181CF2-A5DE-9C22-FB57-CFE4E8950E27}"/>
              </a:ext>
            </a:extLst>
          </p:cNvPr>
          <p:cNvSpPr txBox="1"/>
          <p:nvPr/>
        </p:nvSpPr>
        <p:spPr>
          <a:xfrm>
            <a:off x="9063929" y="533598"/>
            <a:ext cx="1976437" cy="369332"/>
          </a:xfrm>
          <a:prstGeom prst="rect">
            <a:avLst/>
          </a:prstGeom>
          <a:noFill/>
        </p:spPr>
        <p:txBody>
          <a:bodyPr wrap="square" rtlCol="0">
            <a:spAutoFit/>
          </a:bodyPr>
          <a:lstStyle/>
          <a:p>
            <a:r>
              <a:rPr lang="en-US" b="1" dirty="0"/>
              <a:t>AWS Cloud</a:t>
            </a:r>
          </a:p>
        </p:txBody>
      </p:sp>
      <p:cxnSp>
        <p:nvCxnSpPr>
          <p:cNvPr id="19" name="Straight Arrow Connector 18">
            <a:extLst>
              <a:ext uri="{FF2B5EF4-FFF2-40B4-BE49-F238E27FC236}">
                <a16:creationId xmlns:a16="http://schemas.microsoft.com/office/drawing/2014/main" id="{13283C32-FE05-A930-E4F3-1B33C1F1C771}"/>
              </a:ext>
            </a:extLst>
          </p:cNvPr>
          <p:cNvCxnSpPr>
            <a:stCxn id="7" idx="0"/>
            <a:endCxn id="5" idx="3"/>
          </p:cNvCxnSpPr>
          <p:nvPr/>
        </p:nvCxnSpPr>
        <p:spPr>
          <a:xfrm flipV="1">
            <a:off x="9858375" y="2207419"/>
            <a:ext cx="155973" cy="820737"/>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A31DB74-A1FE-BEAD-F8CA-6761DBF5ED31}"/>
              </a:ext>
            </a:extLst>
          </p:cNvPr>
          <p:cNvSpPr txBox="1"/>
          <p:nvPr/>
        </p:nvSpPr>
        <p:spPr>
          <a:xfrm>
            <a:off x="7077191" y="3771882"/>
            <a:ext cx="1020536" cy="369332"/>
          </a:xfrm>
          <a:prstGeom prst="rect">
            <a:avLst/>
          </a:prstGeom>
          <a:noFill/>
        </p:spPr>
        <p:txBody>
          <a:bodyPr wrap="none" rtlCol="0">
            <a:spAutoFit/>
          </a:bodyPr>
          <a:lstStyle/>
          <a:p>
            <a:r>
              <a:rPr lang="en-US" dirty="0"/>
              <a:t>UDP/TCP</a:t>
            </a:r>
          </a:p>
        </p:txBody>
      </p:sp>
      <p:cxnSp>
        <p:nvCxnSpPr>
          <p:cNvPr id="28" name="Elbow Connector 27">
            <a:extLst>
              <a:ext uri="{FF2B5EF4-FFF2-40B4-BE49-F238E27FC236}">
                <a16:creationId xmlns:a16="http://schemas.microsoft.com/office/drawing/2014/main" id="{30563B33-ACE8-E4E2-F8AA-457D5961E8D2}"/>
              </a:ext>
            </a:extLst>
          </p:cNvPr>
          <p:cNvCxnSpPr>
            <a:cxnSpLocks/>
            <a:stCxn id="6" idx="2"/>
            <a:endCxn id="7" idx="2"/>
          </p:cNvCxnSpPr>
          <p:nvPr/>
        </p:nvCxnSpPr>
        <p:spPr>
          <a:xfrm rot="5400000" flipH="1" flipV="1">
            <a:off x="7851224" y="2444508"/>
            <a:ext cx="123339" cy="3890962"/>
          </a:xfrm>
          <a:prstGeom prst="bentConnector3">
            <a:avLst>
              <a:gd name="adj1" fmla="val -67187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6E8EC6E-8D1A-AC7F-F3EB-298C086B46EF}"/>
              </a:ext>
            </a:extLst>
          </p:cNvPr>
          <p:cNvSpPr txBox="1"/>
          <p:nvPr/>
        </p:nvSpPr>
        <p:spPr>
          <a:xfrm>
            <a:off x="6672262" y="5366424"/>
            <a:ext cx="1846788" cy="646331"/>
          </a:xfrm>
          <a:prstGeom prst="rect">
            <a:avLst/>
          </a:prstGeom>
          <a:noFill/>
        </p:spPr>
        <p:txBody>
          <a:bodyPr wrap="none" rtlCol="0">
            <a:spAutoFit/>
          </a:bodyPr>
          <a:lstStyle/>
          <a:p>
            <a:r>
              <a:rPr lang="en-US" u="sng" dirty="0"/>
              <a:t>Configuration link</a:t>
            </a:r>
          </a:p>
          <a:p>
            <a:r>
              <a:rPr lang="en-US" dirty="0"/>
              <a:t>SSH/SCP</a:t>
            </a:r>
          </a:p>
        </p:txBody>
      </p:sp>
      <p:sp>
        <p:nvSpPr>
          <p:cNvPr id="33" name="TextBox 32">
            <a:extLst>
              <a:ext uri="{FF2B5EF4-FFF2-40B4-BE49-F238E27FC236}">
                <a16:creationId xmlns:a16="http://schemas.microsoft.com/office/drawing/2014/main" id="{3E9371E1-8357-5EF8-F1D6-4F2007A74FFF}"/>
              </a:ext>
            </a:extLst>
          </p:cNvPr>
          <p:cNvSpPr txBox="1"/>
          <p:nvPr/>
        </p:nvSpPr>
        <p:spPr>
          <a:xfrm>
            <a:off x="5485804" y="1760012"/>
            <a:ext cx="1976437" cy="646331"/>
          </a:xfrm>
          <a:prstGeom prst="rect">
            <a:avLst/>
          </a:prstGeom>
          <a:noFill/>
        </p:spPr>
        <p:txBody>
          <a:bodyPr wrap="square" rtlCol="0">
            <a:spAutoFit/>
          </a:bodyPr>
          <a:lstStyle/>
          <a:p>
            <a:r>
              <a:rPr lang="en-US" b="1" dirty="0">
                <a:solidFill>
                  <a:srgbClr val="00B050"/>
                </a:solidFill>
              </a:rPr>
              <a:t>private IP in the current LAN</a:t>
            </a:r>
          </a:p>
        </p:txBody>
      </p:sp>
      <p:sp>
        <p:nvSpPr>
          <p:cNvPr id="34" name="TextBox 33">
            <a:extLst>
              <a:ext uri="{FF2B5EF4-FFF2-40B4-BE49-F238E27FC236}">
                <a16:creationId xmlns:a16="http://schemas.microsoft.com/office/drawing/2014/main" id="{6DE15A6E-DC11-CDE3-73A8-53ADAF43F549}"/>
              </a:ext>
            </a:extLst>
          </p:cNvPr>
          <p:cNvSpPr txBox="1"/>
          <p:nvPr/>
        </p:nvSpPr>
        <p:spPr>
          <a:xfrm>
            <a:off x="10014349" y="5576798"/>
            <a:ext cx="2206228" cy="1200329"/>
          </a:xfrm>
          <a:prstGeom prst="rect">
            <a:avLst/>
          </a:prstGeom>
          <a:noFill/>
        </p:spPr>
        <p:txBody>
          <a:bodyPr wrap="square" rtlCol="0">
            <a:spAutoFit/>
          </a:bodyPr>
          <a:lstStyle/>
          <a:p>
            <a:r>
              <a:rPr lang="en-US" b="1" dirty="0">
                <a:solidFill>
                  <a:srgbClr val="00B050"/>
                </a:solidFill>
              </a:rPr>
              <a:t>an always-available public IP as long as the instance is running</a:t>
            </a:r>
          </a:p>
        </p:txBody>
      </p:sp>
      <p:cxnSp>
        <p:nvCxnSpPr>
          <p:cNvPr id="36" name="Curved Connector 35">
            <a:extLst>
              <a:ext uri="{FF2B5EF4-FFF2-40B4-BE49-F238E27FC236}">
                <a16:creationId xmlns:a16="http://schemas.microsoft.com/office/drawing/2014/main" id="{33E42C21-C38F-1A9C-8521-FB9BE22CD854}"/>
              </a:ext>
            </a:extLst>
          </p:cNvPr>
          <p:cNvCxnSpPr>
            <a:cxnSpLocks/>
            <a:stCxn id="6" idx="0"/>
            <a:endCxn id="33" idx="2"/>
          </p:cNvCxnSpPr>
          <p:nvPr/>
        </p:nvCxnSpPr>
        <p:spPr>
          <a:xfrm rot="5400000" flipH="1" flipV="1">
            <a:off x="5823690" y="2550067"/>
            <a:ext cx="794057" cy="506610"/>
          </a:xfrm>
          <a:prstGeom prst="curvedConnector3">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urved Connector 37">
            <a:extLst>
              <a:ext uri="{FF2B5EF4-FFF2-40B4-BE49-F238E27FC236}">
                <a16:creationId xmlns:a16="http://schemas.microsoft.com/office/drawing/2014/main" id="{5F738447-B15C-0554-2701-56912B39CAF5}"/>
              </a:ext>
            </a:extLst>
          </p:cNvPr>
          <p:cNvCxnSpPr>
            <a:cxnSpLocks/>
            <a:endCxn id="34" idx="0"/>
          </p:cNvCxnSpPr>
          <p:nvPr/>
        </p:nvCxnSpPr>
        <p:spPr>
          <a:xfrm rot="16200000" flipH="1">
            <a:off x="10094541" y="4553876"/>
            <a:ext cx="1796404" cy="249439"/>
          </a:xfrm>
          <a:prstGeom prst="curvedConnector3">
            <a:avLst>
              <a:gd name="adj1" fmla="val -20785"/>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672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5713C-65EB-03D8-8E88-18A6C865849D}"/>
              </a:ext>
            </a:extLst>
          </p:cNvPr>
          <p:cNvSpPr>
            <a:spLocks noGrp="1"/>
          </p:cNvSpPr>
          <p:nvPr>
            <p:ph type="title"/>
          </p:nvPr>
        </p:nvSpPr>
        <p:spPr/>
        <p:txBody>
          <a:bodyPr/>
          <a:lstStyle/>
          <a:p>
            <a:pPr algn="ctr"/>
            <a:r>
              <a:rPr lang="en-US" b="1" dirty="0"/>
              <a:t>Amazon’s Elastic Compute Cloud (EC2) </a:t>
            </a:r>
            <a:endParaRPr lang="en-US" dirty="0"/>
          </a:p>
        </p:txBody>
      </p:sp>
      <p:sp>
        <p:nvSpPr>
          <p:cNvPr id="3" name="Content Placeholder 2">
            <a:extLst>
              <a:ext uri="{FF2B5EF4-FFF2-40B4-BE49-F238E27FC236}">
                <a16:creationId xmlns:a16="http://schemas.microsoft.com/office/drawing/2014/main" id="{481BC5D2-46F2-365F-813D-690E7C8C1CA9}"/>
              </a:ext>
            </a:extLst>
          </p:cNvPr>
          <p:cNvSpPr>
            <a:spLocks noGrp="1"/>
          </p:cNvSpPr>
          <p:nvPr>
            <p:ph idx="1"/>
          </p:nvPr>
        </p:nvSpPr>
        <p:spPr/>
        <p:txBody>
          <a:bodyPr>
            <a:normAutofit lnSpcReduction="10000"/>
          </a:bodyPr>
          <a:lstStyle/>
          <a:p>
            <a:r>
              <a:rPr lang="en-US" b="1" dirty="0"/>
              <a:t>Amazon Elastic Compute Cloud (EC2) </a:t>
            </a:r>
            <a:r>
              <a:rPr lang="en-US" dirty="0"/>
              <a:t>is a part of </a:t>
            </a:r>
            <a:r>
              <a:rPr lang="en-US" dirty="0" err="1"/>
              <a:t>Amazon.com's</a:t>
            </a:r>
            <a:r>
              <a:rPr lang="en-US" dirty="0"/>
              <a:t> cloud-computing platform: Amazon Web Services (</a:t>
            </a:r>
            <a:r>
              <a:rPr lang="en-US" b="1" dirty="0"/>
              <a:t>AWS</a:t>
            </a:r>
            <a:r>
              <a:rPr lang="en-US" dirty="0"/>
              <a:t>)</a:t>
            </a:r>
          </a:p>
          <a:p>
            <a:pPr lvl="1"/>
            <a:r>
              <a:rPr lang="en-US" dirty="0"/>
              <a:t>lends </a:t>
            </a:r>
            <a:r>
              <a:rPr lang="en-US" u="sng" dirty="0"/>
              <a:t>virtual computers on the cloud </a:t>
            </a:r>
            <a:r>
              <a:rPr lang="en-US" dirty="0"/>
              <a:t> to configure and run your apps</a:t>
            </a:r>
          </a:p>
          <a:p>
            <a:pPr lvl="1"/>
            <a:r>
              <a:rPr lang="en-US" dirty="0"/>
              <a:t>the virtual computer is typically running a Linux distribution (e.g., Ubuntu)</a:t>
            </a:r>
          </a:p>
          <a:p>
            <a:endParaRPr lang="en-US" dirty="0"/>
          </a:p>
          <a:p>
            <a:r>
              <a:rPr lang="en-US" dirty="0"/>
              <a:t>Using EC2 an example of IaaS</a:t>
            </a:r>
          </a:p>
          <a:p>
            <a:pPr lvl="1"/>
            <a:r>
              <a:rPr lang="en-US" dirty="0"/>
              <a:t>We can choose an OS, storage, computing resources, networking configurations, etc.</a:t>
            </a:r>
          </a:p>
          <a:p>
            <a:pPr lvl="1"/>
            <a:endParaRPr lang="en-US" dirty="0"/>
          </a:p>
          <a:p>
            <a:r>
              <a:rPr lang="en-US" dirty="0"/>
              <a:t>Unlike the lower tiers (Edge and Fog), we can rely on EC2 to be </a:t>
            </a:r>
            <a:r>
              <a:rPr lang="en-US" b="1" dirty="0"/>
              <a:t>elastic, i.e.</a:t>
            </a:r>
            <a:r>
              <a:rPr lang="en-US" dirty="0"/>
              <a:t> to grow according to our application’s needs </a:t>
            </a:r>
          </a:p>
        </p:txBody>
      </p:sp>
    </p:spTree>
    <p:extLst>
      <p:ext uri="{BB962C8B-B14F-4D97-AF65-F5344CB8AC3E}">
        <p14:creationId xmlns:p14="http://schemas.microsoft.com/office/powerpoint/2010/main" val="291749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4FE9A-AB05-4112-B50C-3C2A8F8D217F}"/>
              </a:ext>
            </a:extLst>
          </p:cNvPr>
          <p:cNvSpPr>
            <a:spLocks noGrp="1"/>
          </p:cNvSpPr>
          <p:nvPr>
            <p:ph type="title"/>
          </p:nvPr>
        </p:nvSpPr>
        <p:spPr/>
        <p:txBody>
          <a:bodyPr/>
          <a:lstStyle/>
          <a:p>
            <a:pPr algn="ctr"/>
            <a:r>
              <a:rPr lang="en-US" b="1" dirty="0"/>
              <a:t>EC2 Configuration Steps (Lab 4)</a:t>
            </a:r>
          </a:p>
        </p:txBody>
      </p:sp>
      <p:sp>
        <p:nvSpPr>
          <p:cNvPr id="3" name="Content Placeholder 2">
            <a:extLst>
              <a:ext uri="{FF2B5EF4-FFF2-40B4-BE49-F238E27FC236}">
                <a16:creationId xmlns:a16="http://schemas.microsoft.com/office/drawing/2014/main" id="{7C6ADEA0-6EFA-4D4F-A068-B4D9840CB5A1}"/>
              </a:ext>
            </a:extLst>
          </p:cNvPr>
          <p:cNvSpPr>
            <a:spLocks noGrp="1"/>
          </p:cNvSpPr>
          <p:nvPr>
            <p:ph idx="1"/>
          </p:nvPr>
        </p:nvSpPr>
        <p:spPr/>
        <p:txBody>
          <a:bodyPr>
            <a:normAutofit fontScale="92500" lnSpcReduction="20000"/>
          </a:bodyPr>
          <a:lstStyle/>
          <a:p>
            <a:pPr marL="0" indent="0">
              <a:buNone/>
            </a:pPr>
            <a:r>
              <a:rPr lang="en-US" dirty="0"/>
              <a:t>Using the web-based console on your AWS account</a:t>
            </a:r>
          </a:p>
          <a:p>
            <a:pPr lvl="1"/>
            <a:r>
              <a:rPr lang="en-US" dirty="0"/>
              <a:t>Choose </a:t>
            </a:r>
            <a:r>
              <a:rPr lang="en-US" b="1" dirty="0"/>
              <a:t>a machine image</a:t>
            </a:r>
            <a:r>
              <a:rPr lang="en-US" dirty="0"/>
              <a:t>: processor, storage, operating system, etc.</a:t>
            </a:r>
          </a:p>
          <a:p>
            <a:pPr lvl="1"/>
            <a:r>
              <a:rPr lang="en-US" dirty="0"/>
              <a:t>Instance type (</a:t>
            </a:r>
            <a:r>
              <a:rPr lang="en-US" b="1" dirty="0"/>
              <a:t>computational power</a:t>
            </a:r>
            <a:r>
              <a:rPr lang="en-US" dirty="0"/>
              <a:t>): no of processors, amount of memory, networking capacity, etc. (Default options on the free-tier suffice)</a:t>
            </a:r>
          </a:p>
          <a:p>
            <a:pPr lvl="1"/>
            <a:r>
              <a:rPr lang="en-US" dirty="0"/>
              <a:t>Configure </a:t>
            </a:r>
            <a:r>
              <a:rPr lang="en-US" b="1" dirty="0"/>
              <a:t>security group</a:t>
            </a:r>
          </a:p>
          <a:p>
            <a:pPr lvl="2"/>
            <a:r>
              <a:rPr lang="en-US" dirty="0"/>
              <a:t>What type of connections are permitted? TCP, UDP, SSH only?</a:t>
            </a:r>
          </a:p>
          <a:p>
            <a:pPr lvl="2"/>
            <a:r>
              <a:rPr lang="en-US" dirty="0"/>
              <a:t>What port range is permissible?</a:t>
            </a:r>
          </a:p>
          <a:p>
            <a:pPr lvl="2"/>
            <a:r>
              <a:rPr lang="en-US" dirty="0"/>
              <a:t>Are only specific IP addresses allowed to connect, or anyone can connect?</a:t>
            </a:r>
          </a:p>
          <a:p>
            <a:pPr lvl="1"/>
            <a:r>
              <a:rPr lang="en-US" dirty="0"/>
              <a:t>EC2 is one of the AWS services</a:t>
            </a:r>
          </a:p>
          <a:p>
            <a:pPr lvl="2"/>
            <a:r>
              <a:rPr lang="en-US" dirty="0"/>
              <a:t>To communicate with other services, it must do so through a predefined role (IAM role)</a:t>
            </a:r>
          </a:p>
          <a:p>
            <a:pPr lvl="2"/>
            <a:r>
              <a:rPr lang="en-US" dirty="0"/>
              <a:t>a</a:t>
            </a:r>
            <a:r>
              <a:rPr lang="en-US" b="0" i="0" dirty="0">
                <a:solidFill>
                  <a:srgbClr val="16191F"/>
                </a:solidFill>
                <a:effectLst/>
                <a:latin typeface="Amazon Ember"/>
              </a:rPr>
              <a:t>n </a:t>
            </a:r>
            <a:r>
              <a:rPr lang="en-US" b="1" i="0" dirty="0">
                <a:solidFill>
                  <a:srgbClr val="16191F"/>
                </a:solidFill>
                <a:effectLst/>
                <a:latin typeface="Amazon Ember"/>
              </a:rPr>
              <a:t>IAM </a:t>
            </a:r>
            <a:r>
              <a:rPr lang="en-US" b="1" dirty="0">
                <a:solidFill>
                  <a:srgbClr val="16191F"/>
                </a:solidFill>
                <a:effectLst/>
                <a:latin typeface="Amazon Ember"/>
              </a:rPr>
              <a:t>role</a:t>
            </a:r>
            <a:r>
              <a:rPr lang="en-US" i="0" dirty="0">
                <a:solidFill>
                  <a:srgbClr val="16191F"/>
                </a:solidFill>
                <a:effectLst/>
                <a:latin typeface="Amazon Ember"/>
              </a:rPr>
              <a:t> is an identity </a:t>
            </a:r>
            <a:r>
              <a:rPr lang="en-US" b="0" i="0" dirty="0">
                <a:solidFill>
                  <a:srgbClr val="16191F"/>
                </a:solidFill>
                <a:effectLst/>
                <a:latin typeface="Amazon Ember"/>
              </a:rPr>
              <a:t>you create in your account that provides specific permissions. </a:t>
            </a:r>
          </a:p>
          <a:p>
            <a:pPr lvl="3"/>
            <a:r>
              <a:rPr lang="en-US" dirty="0">
                <a:solidFill>
                  <a:srgbClr val="16191F"/>
                </a:solidFill>
                <a:latin typeface="Amazon Ember"/>
              </a:rPr>
              <a:t>E.g. the </a:t>
            </a:r>
            <a:r>
              <a:rPr lang="en-US" i="1" dirty="0">
                <a:solidFill>
                  <a:srgbClr val="16191F"/>
                </a:solidFill>
                <a:latin typeface="Amazon Ember"/>
              </a:rPr>
              <a:t>DynamoDBAccessforEC2</a:t>
            </a:r>
            <a:r>
              <a:rPr lang="en-US" dirty="0">
                <a:solidFill>
                  <a:srgbClr val="16191F"/>
                </a:solidFill>
                <a:latin typeface="Amazon Ember"/>
              </a:rPr>
              <a:t> role in your lab gives your EC2 instance to a DynamoDB database.</a:t>
            </a:r>
          </a:p>
          <a:p>
            <a:pPr lvl="1"/>
            <a:r>
              <a:rPr lang="en-US" dirty="0">
                <a:solidFill>
                  <a:srgbClr val="16191F"/>
                </a:solidFill>
                <a:latin typeface="Amazon Ember"/>
              </a:rPr>
              <a:t>The EC2 instance is </a:t>
            </a:r>
            <a:r>
              <a:rPr lang="en-US" b="1" dirty="0">
                <a:solidFill>
                  <a:srgbClr val="16191F"/>
                </a:solidFill>
                <a:latin typeface="Amazon Ember"/>
              </a:rPr>
              <a:t>always-running, with a public IP</a:t>
            </a:r>
            <a:r>
              <a:rPr lang="en-US" dirty="0">
                <a:solidFill>
                  <a:srgbClr val="16191F"/>
                </a:solidFill>
                <a:latin typeface="Amazon Ember"/>
              </a:rPr>
              <a:t>, unless you explicitly shut it down</a:t>
            </a:r>
            <a:r>
              <a:rPr lang="en-US" i="1" dirty="0">
                <a:solidFill>
                  <a:srgbClr val="16191F"/>
                </a:solidFill>
                <a:latin typeface="Amazon Ember"/>
              </a:rPr>
              <a:t> </a:t>
            </a:r>
            <a:endParaRPr lang="en-US" i="1" dirty="0"/>
          </a:p>
        </p:txBody>
      </p:sp>
    </p:spTree>
    <p:extLst>
      <p:ext uri="{BB962C8B-B14F-4D97-AF65-F5344CB8AC3E}">
        <p14:creationId xmlns:p14="http://schemas.microsoft.com/office/powerpoint/2010/main" val="4130477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DD98FAF-BC54-4758-8915-0ED32B7B43DE}"/>
              </a:ext>
            </a:extLst>
          </p:cNvPr>
          <p:cNvSpPr>
            <a:spLocks noGrp="1"/>
          </p:cNvSpPr>
          <p:nvPr>
            <p:ph type="title"/>
          </p:nvPr>
        </p:nvSpPr>
        <p:spPr/>
        <p:txBody>
          <a:bodyPr/>
          <a:lstStyle/>
          <a:p>
            <a:pPr algn="ctr"/>
            <a:r>
              <a:rPr lang="en-US" b="1" dirty="0"/>
              <a:t>Basic Software Installations on EC2 (Lab 4)</a:t>
            </a:r>
          </a:p>
        </p:txBody>
      </p:sp>
      <p:sp>
        <p:nvSpPr>
          <p:cNvPr id="8" name="Content Placeholder 7">
            <a:extLst>
              <a:ext uri="{FF2B5EF4-FFF2-40B4-BE49-F238E27FC236}">
                <a16:creationId xmlns:a16="http://schemas.microsoft.com/office/drawing/2014/main" id="{40B5CF3A-F447-404E-AA71-A15EDA216A47}"/>
              </a:ext>
            </a:extLst>
          </p:cNvPr>
          <p:cNvSpPr>
            <a:spLocks noGrp="1"/>
          </p:cNvSpPr>
          <p:nvPr>
            <p:ph idx="1"/>
          </p:nvPr>
        </p:nvSpPr>
        <p:spPr/>
        <p:txBody>
          <a:bodyPr/>
          <a:lstStyle/>
          <a:p>
            <a:pPr marL="0" indent="0">
              <a:buNone/>
            </a:pPr>
            <a:r>
              <a:rPr lang="en-US" dirty="0"/>
              <a:t>You can install any software tools on your EC2 instance that are required by your app to run on Linux:</a:t>
            </a:r>
          </a:p>
          <a:p>
            <a:pPr marL="0" indent="0">
              <a:buNone/>
            </a:pPr>
            <a:endParaRPr lang="en-US" dirty="0"/>
          </a:p>
          <a:p>
            <a:pPr marL="0" indent="0">
              <a:buNone/>
            </a:pPr>
            <a:r>
              <a:rPr lang="en-US" dirty="0"/>
              <a:t>Some basic tools needed for Lab 4:</a:t>
            </a:r>
          </a:p>
          <a:p>
            <a:pPr lvl="1"/>
            <a:r>
              <a:rPr lang="en-US" dirty="0"/>
              <a:t>Python</a:t>
            </a:r>
          </a:p>
          <a:p>
            <a:pPr lvl="1"/>
            <a:r>
              <a:rPr lang="en-US" dirty="0"/>
              <a:t>Pip</a:t>
            </a:r>
          </a:p>
          <a:p>
            <a:pPr lvl="1"/>
            <a:r>
              <a:rPr lang="en-US" dirty="0"/>
              <a:t>Python packages using pip</a:t>
            </a:r>
          </a:p>
          <a:p>
            <a:pPr lvl="1"/>
            <a:r>
              <a:rPr lang="en-US" b="1" dirty="0"/>
              <a:t>Boto3</a:t>
            </a:r>
            <a:r>
              <a:rPr lang="en-US" dirty="0"/>
              <a:t>: AWS’s Python API to interface with services like DynamoDB, S3 etc.</a:t>
            </a:r>
          </a:p>
          <a:p>
            <a:pPr lvl="1"/>
            <a:r>
              <a:rPr lang="en-US" dirty="0"/>
              <a:t>g++, etc.</a:t>
            </a:r>
          </a:p>
          <a:p>
            <a:pPr marL="457200" lvl="1" indent="0">
              <a:buNone/>
            </a:pPr>
            <a:endParaRPr lang="en-US" dirty="0"/>
          </a:p>
        </p:txBody>
      </p:sp>
    </p:spTree>
    <p:extLst>
      <p:ext uri="{BB962C8B-B14F-4D97-AF65-F5344CB8AC3E}">
        <p14:creationId xmlns:p14="http://schemas.microsoft.com/office/powerpoint/2010/main" val="2700190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E1647-E540-97D4-2973-5BD6E40BE3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9E04F-521B-5012-FE5A-E0F1F77F3AC2}"/>
              </a:ext>
            </a:extLst>
          </p:cNvPr>
          <p:cNvSpPr>
            <a:spLocks noGrp="1"/>
          </p:cNvSpPr>
          <p:nvPr>
            <p:ph type="title"/>
          </p:nvPr>
        </p:nvSpPr>
        <p:spPr/>
        <p:txBody>
          <a:bodyPr>
            <a:normAutofit/>
          </a:bodyPr>
          <a:lstStyle/>
          <a:p>
            <a:pPr algn="ctr"/>
            <a:r>
              <a:rPr lang="en-US" sz="2400" b="1" dirty="0"/>
              <a:t>Client-Server Communication</a:t>
            </a:r>
            <a:br>
              <a:rPr lang="en-US" sz="4000" b="1" dirty="0"/>
            </a:br>
            <a:r>
              <a:rPr lang="en-US" sz="4000" b="1" dirty="0"/>
              <a:t>Example: A simple TCP Client and a Server on EC2</a:t>
            </a:r>
          </a:p>
        </p:txBody>
      </p:sp>
      <p:pic>
        <p:nvPicPr>
          <p:cNvPr id="9" name="Content Placeholder 8" descr="A screenshot of a computer code&#10;&#10;AI-generated content may be incorrect.">
            <a:extLst>
              <a:ext uri="{FF2B5EF4-FFF2-40B4-BE49-F238E27FC236}">
                <a16:creationId xmlns:a16="http://schemas.microsoft.com/office/drawing/2014/main" id="{99395CFB-241A-ECFB-A98A-504497F9D313}"/>
              </a:ext>
            </a:extLst>
          </p:cNvPr>
          <p:cNvPicPr>
            <a:picLocks noGrp="1" noChangeAspect="1"/>
          </p:cNvPicPr>
          <p:nvPr>
            <p:ph sz="half" idx="1"/>
          </p:nvPr>
        </p:nvPicPr>
        <p:blipFill>
          <a:blip r:embed="rId3"/>
          <a:stretch>
            <a:fillRect/>
          </a:stretch>
        </p:blipFill>
        <p:spPr>
          <a:xfrm>
            <a:off x="407158" y="2054081"/>
            <a:ext cx="5846785" cy="2592692"/>
          </a:xfrm>
        </p:spPr>
      </p:pic>
      <p:pic>
        <p:nvPicPr>
          <p:cNvPr id="16" name="Content Placeholder 15" descr="A computer screen shot of a program&#10;&#10;AI-generated content may be incorrect.">
            <a:extLst>
              <a:ext uri="{FF2B5EF4-FFF2-40B4-BE49-F238E27FC236}">
                <a16:creationId xmlns:a16="http://schemas.microsoft.com/office/drawing/2014/main" id="{65EC221A-EEB8-BC40-5275-5D128D089700}"/>
              </a:ext>
            </a:extLst>
          </p:cNvPr>
          <p:cNvPicPr>
            <a:picLocks noGrp="1" noChangeAspect="1"/>
          </p:cNvPicPr>
          <p:nvPr>
            <p:ph sz="half" idx="2"/>
          </p:nvPr>
        </p:nvPicPr>
        <p:blipFill>
          <a:blip r:embed="rId4"/>
          <a:stretch>
            <a:fillRect/>
          </a:stretch>
        </p:blipFill>
        <p:spPr>
          <a:xfrm>
            <a:off x="6172199" y="1928813"/>
            <a:ext cx="5820821" cy="3734818"/>
          </a:xfrm>
        </p:spPr>
      </p:pic>
      <p:sp>
        <p:nvSpPr>
          <p:cNvPr id="17" name="TextBox 16">
            <a:extLst>
              <a:ext uri="{FF2B5EF4-FFF2-40B4-BE49-F238E27FC236}">
                <a16:creationId xmlns:a16="http://schemas.microsoft.com/office/drawing/2014/main" id="{5773E3FD-E982-AAF2-C6AD-99726248A917}"/>
              </a:ext>
            </a:extLst>
          </p:cNvPr>
          <p:cNvSpPr txBox="1"/>
          <p:nvPr/>
        </p:nvSpPr>
        <p:spPr>
          <a:xfrm>
            <a:off x="1260095" y="4556022"/>
            <a:ext cx="2715295" cy="369332"/>
          </a:xfrm>
          <a:prstGeom prst="rect">
            <a:avLst/>
          </a:prstGeom>
          <a:noFill/>
        </p:spPr>
        <p:txBody>
          <a:bodyPr wrap="none" rtlCol="0">
            <a:spAutoFit/>
          </a:bodyPr>
          <a:lstStyle/>
          <a:p>
            <a:r>
              <a:rPr lang="en-US" b="1" dirty="0"/>
              <a:t>TCP Client on a Local Node</a:t>
            </a:r>
          </a:p>
        </p:txBody>
      </p:sp>
      <p:sp>
        <p:nvSpPr>
          <p:cNvPr id="18" name="TextBox 17">
            <a:extLst>
              <a:ext uri="{FF2B5EF4-FFF2-40B4-BE49-F238E27FC236}">
                <a16:creationId xmlns:a16="http://schemas.microsoft.com/office/drawing/2014/main" id="{5FCF5BCE-F9C4-E5BF-7F70-2E1CCBF56040}"/>
              </a:ext>
            </a:extLst>
          </p:cNvPr>
          <p:cNvSpPr txBox="1"/>
          <p:nvPr/>
        </p:nvSpPr>
        <p:spPr>
          <a:xfrm>
            <a:off x="7677151" y="5532424"/>
            <a:ext cx="1904176" cy="369332"/>
          </a:xfrm>
          <a:prstGeom prst="rect">
            <a:avLst/>
          </a:prstGeom>
          <a:noFill/>
        </p:spPr>
        <p:txBody>
          <a:bodyPr wrap="none" rtlCol="0">
            <a:spAutoFit/>
          </a:bodyPr>
          <a:lstStyle/>
          <a:p>
            <a:r>
              <a:rPr lang="en-US" b="1" dirty="0"/>
              <a:t>TCP Server on EC2</a:t>
            </a:r>
          </a:p>
        </p:txBody>
      </p:sp>
      <p:sp>
        <p:nvSpPr>
          <p:cNvPr id="19" name="TextBox 18">
            <a:extLst>
              <a:ext uri="{FF2B5EF4-FFF2-40B4-BE49-F238E27FC236}">
                <a16:creationId xmlns:a16="http://schemas.microsoft.com/office/drawing/2014/main" id="{E48B70D5-0A8B-7F0F-088B-93709C106763}"/>
              </a:ext>
            </a:extLst>
          </p:cNvPr>
          <p:cNvSpPr txBox="1"/>
          <p:nvPr/>
        </p:nvSpPr>
        <p:spPr>
          <a:xfrm>
            <a:off x="107459" y="5033029"/>
            <a:ext cx="5843562" cy="1815882"/>
          </a:xfrm>
          <a:prstGeom prst="rect">
            <a:avLst/>
          </a:prstGeom>
          <a:noFill/>
          <a:ln>
            <a:solidFill>
              <a:srgbClr val="FF0000"/>
            </a:solidFill>
          </a:ln>
        </p:spPr>
        <p:txBody>
          <a:bodyPr wrap="square" rtlCol="0">
            <a:spAutoFit/>
          </a:bodyPr>
          <a:lstStyle/>
          <a:p>
            <a:r>
              <a:rPr lang="en-US" sz="1600" b="1" dirty="0"/>
              <a:t>Some Issues to consider</a:t>
            </a:r>
            <a:r>
              <a:rPr lang="en-US" sz="1600" dirty="0"/>
              <a:t>:</a:t>
            </a:r>
          </a:p>
          <a:p>
            <a:pPr marL="285750" indent="-285750">
              <a:buFontTx/>
              <a:buChar char="-"/>
            </a:pPr>
            <a:r>
              <a:rPr lang="en-US" sz="1600" dirty="0"/>
              <a:t>We’re assuming short messages of known size range </a:t>
            </a:r>
          </a:p>
          <a:p>
            <a:r>
              <a:rPr lang="en-GB" sz="1600" dirty="0"/>
              <a:t>      (TCP doesn't guarantee message boundaries)</a:t>
            </a:r>
            <a:endParaRPr lang="en-US" sz="1600" dirty="0"/>
          </a:p>
          <a:p>
            <a:pPr marL="285750" indent="-285750">
              <a:buFontTx/>
              <a:buChar char="-"/>
            </a:pPr>
            <a:r>
              <a:rPr lang="en-US" sz="1600" dirty="0"/>
              <a:t>The server can only handle one client at a time</a:t>
            </a:r>
          </a:p>
          <a:p>
            <a:pPr marL="285750" indent="-285750">
              <a:buFontTx/>
              <a:buChar char="-"/>
            </a:pPr>
            <a:r>
              <a:rPr lang="en-US" sz="1600" dirty="0"/>
              <a:t>Raw TCP sockets wouldn’t work from within browsers,</a:t>
            </a:r>
          </a:p>
          <a:p>
            <a:pPr lvl="1"/>
            <a:r>
              <a:rPr lang="en-US" sz="1600" dirty="0"/>
              <a:t>or if you wished to use any web-API; </a:t>
            </a:r>
          </a:p>
          <a:p>
            <a:pPr lvl="1"/>
            <a:r>
              <a:rPr lang="en-US" sz="1600" dirty="0"/>
              <a:t>	you’d need an application layer protocol, e.g., HTTP </a:t>
            </a:r>
          </a:p>
        </p:txBody>
      </p:sp>
      <p:sp>
        <p:nvSpPr>
          <p:cNvPr id="21" name="TextBox 20">
            <a:extLst>
              <a:ext uri="{FF2B5EF4-FFF2-40B4-BE49-F238E27FC236}">
                <a16:creationId xmlns:a16="http://schemas.microsoft.com/office/drawing/2014/main" id="{75C7439B-B913-8ED7-655F-4242070B3141}"/>
              </a:ext>
            </a:extLst>
          </p:cNvPr>
          <p:cNvSpPr txBox="1"/>
          <p:nvPr/>
        </p:nvSpPr>
        <p:spPr>
          <a:xfrm>
            <a:off x="6326862" y="5924444"/>
            <a:ext cx="5470985" cy="369332"/>
          </a:xfrm>
          <a:prstGeom prst="rect">
            <a:avLst/>
          </a:prstGeom>
          <a:noFill/>
          <a:ln>
            <a:solidFill>
              <a:srgbClr val="FF0000"/>
            </a:solidFill>
          </a:ln>
        </p:spPr>
        <p:txBody>
          <a:bodyPr wrap="none" rtlCol="0">
            <a:spAutoFit/>
          </a:bodyPr>
          <a:lstStyle/>
          <a:p>
            <a:r>
              <a:rPr lang="en-US" dirty="0"/>
              <a:t>Your server may run as a daemon on your EC2 instance.</a:t>
            </a:r>
          </a:p>
        </p:txBody>
      </p:sp>
      <p:sp>
        <p:nvSpPr>
          <p:cNvPr id="3" name="Rectangle 2">
            <a:extLst>
              <a:ext uri="{FF2B5EF4-FFF2-40B4-BE49-F238E27FC236}">
                <a16:creationId xmlns:a16="http://schemas.microsoft.com/office/drawing/2014/main" id="{E17D2CE1-4032-26DC-1496-1249A481C9EF}"/>
              </a:ext>
            </a:extLst>
          </p:cNvPr>
          <p:cNvSpPr/>
          <p:nvPr/>
        </p:nvSpPr>
        <p:spPr>
          <a:xfrm>
            <a:off x="510639" y="2339439"/>
            <a:ext cx="2481943" cy="48688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68D4861-D145-F85E-8C0C-29AF8FBE1B69}"/>
              </a:ext>
            </a:extLst>
          </p:cNvPr>
          <p:cNvSpPr txBox="1"/>
          <p:nvPr/>
        </p:nvSpPr>
        <p:spPr>
          <a:xfrm>
            <a:off x="2618204" y="1501955"/>
            <a:ext cx="2780889" cy="523220"/>
          </a:xfrm>
          <a:prstGeom prst="rect">
            <a:avLst/>
          </a:prstGeom>
          <a:noFill/>
          <a:ln>
            <a:solidFill>
              <a:schemeClr val="accent2"/>
            </a:solidFill>
          </a:ln>
        </p:spPr>
        <p:txBody>
          <a:bodyPr wrap="none" rtlCol="0">
            <a:spAutoFit/>
          </a:bodyPr>
          <a:lstStyle/>
          <a:p>
            <a:r>
              <a:rPr lang="en-US" sz="1400" dirty="0"/>
              <a:t>Server’s public IP and port number</a:t>
            </a:r>
          </a:p>
          <a:p>
            <a:r>
              <a:rPr lang="en-US" sz="1400" dirty="0"/>
              <a:t>specifies its connection end-point </a:t>
            </a:r>
          </a:p>
        </p:txBody>
      </p:sp>
      <p:cxnSp>
        <p:nvCxnSpPr>
          <p:cNvPr id="6" name="Straight Connector 5">
            <a:extLst>
              <a:ext uri="{FF2B5EF4-FFF2-40B4-BE49-F238E27FC236}">
                <a16:creationId xmlns:a16="http://schemas.microsoft.com/office/drawing/2014/main" id="{3DF099D8-EE77-4DEF-05F7-C8C894000AA0}"/>
              </a:ext>
            </a:extLst>
          </p:cNvPr>
          <p:cNvCxnSpPr>
            <a:cxnSpLocks/>
            <a:stCxn id="3" idx="3"/>
            <a:endCxn id="4" idx="2"/>
          </p:cNvCxnSpPr>
          <p:nvPr/>
        </p:nvCxnSpPr>
        <p:spPr>
          <a:xfrm flipV="1">
            <a:off x="2992582" y="2025175"/>
            <a:ext cx="1016067" cy="55770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2531078-B5C5-6516-4418-773D4E04CA7F}"/>
              </a:ext>
            </a:extLst>
          </p:cNvPr>
          <p:cNvSpPr/>
          <p:nvPr/>
        </p:nvSpPr>
        <p:spPr>
          <a:xfrm>
            <a:off x="510638" y="2826326"/>
            <a:ext cx="4334493" cy="48688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873A68E-7E29-4DD1-D7E1-9B2729CD5CF3}"/>
              </a:ext>
            </a:extLst>
          </p:cNvPr>
          <p:cNvSpPr txBox="1"/>
          <p:nvPr/>
        </p:nvSpPr>
        <p:spPr>
          <a:xfrm>
            <a:off x="4532985" y="3520440"/>
            <a:ext cx="1765355" cy="738664"/>
          </a:xfrm>
          <a:prstGeom prst="rect">
            <a:avLst/>
          </a:prstGeom>
          <a:noFill/>
          <a:ln>
            <a:solidFill>
              <a:schemeClr val="accent2"/>
            </a:solidFill>
          </a:ln>
        </p:spPr>
        <p:txBody>
          <a:bodyPr wrap="none" rtlCol="0">
            <a:spAutoFit/>
          </a:bodyPr>
          <a:lstStyle/>
          <a:p>
            <a:r>
              <a:rPr lang="en-US" sz="1400" dirty="0"/>
              <a:t>IPv4 TCP socket</a:t>
            </a:r>
          </a:p>
          <a:p>
            <a:r>
              <a:rPr lang="en-US" sz="1400" dirty="0"/>
              <a:t>and 3-way handshake</a:t>
            </a:r>
          </a:p>
          <a:p>
            <a:r>
              <a:rPr lang="en-US" sz="1400" dirty="0"/>
              <a:t>to connect</a:t>
            </a:r>
          </a:p>
        </p:txBody>
      </p:sp>
      <p:cxnSp>
        <p:nvCxnSpPr>
          <p:cNvPr id="12" name="Straight Connector 11">
            <a:extLst>
              <a:ext uri="{FF2B5EF4-FFF2-40B4-BE49-F238E27FC236}">
                <a16:creationId xmlns:a16="http://schemas.microsoft.com/office/drawing/2014/main" id="{F01854FA-CEE6-0C9E-D1C0-C8132E448B62}"/>
              </a:ext>
            </a:extLst>
          </p:cNvPr>
          <p:cNvCxnSpPr>
            <a:cxnSpLocks/>
            <a:stCxn id="8" idx="3"/>
            <a:endCxn id="10" idx="0"/>
          </p:cNvCxnSpPr>
          <p:nvPr/>
        </p:nvCxnSpPr>
        <p:spPr>
          <a:xfrm>
            <a:off x="4845131" y="3069770"/>
            <a:ext cx="570532" cy="45067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5EC9262-07B2-D8C0-4C3E-B71826FF26EB}"/>
              </a:ext>
            </a:extLst>
          </p:cNvPr>
          <p:cNvSpPr txBox="1"/>
          <p:nvPr/>
        </p:nvSpPr>
        <p:spPr>
          <a:xfrm>
            <a:off x="4129513" y="4479078"/>
            <a:ext cx="2393284" cy="523220"/>
          </a:xfrm>
          <a:prstGeom prst="rect">
            <a:avLst/>
          </a:prstGeom>
          <a:noFill/>
          <a:ln>
            <a:solidFill>
              <a:schemeClr val="accent2"/>
            </a:solidFill>
          </a:ln>
        </p:spPr>
        <p:txBody>
          <a:bodyPr wrap="none" rtlCol="0">
            <a:spAutoFit/>
          </a:bodyPr>
          <a:lstStyle/>
          <a:p>
            <a:r>
              <a:rPr lang="en-US" sz="1400" dirty="0"/>
              <a:t>Blocking calls: </a:t>
            </a:r>
            <a:r>
              <a:rPr lang="en-US" sz="1400" b="1" dirty="0"/>
              <a:t>send</a:t>
            </a:r>
            <a:r>
              <a:rPr lang="en-US" sz="1400" dirty="0"/>
              <a:t> and</a:t>
            </a:r>
          </a:p>
          <a:p>
            <a:r>
              <a:rPr lang="en-US" sz="1400" b="1" dirty="0"/>
              <a:t>recv</a:t>
            </a:r>
            <a:r>
              <a:rPr lang="en-US" sz="1400" dirty="0"/>
              <a:t>, to send and receive data </a:t>
            </a:r>
          </a:p>
        </p:txBody>
      </p:sp>
      <p:sp>
        <p:nvSpPr>
          <p:cNvPr id="25" name="Rectangle 24">
            <a:extLst>
              <a:ext uri="{FF2B5EF4-FFF2-40B4-BE49-F238E27FC236}">
                <a16:creationId xmlns:a16="http://schemas.microsoft.com/office/drawing/2014/main" id="{068E61B6-DF02-914A-7062-F75B34898AEC}"/>
              </a:ext>
            </a:extLst>
          </p:cNvPr>
          <p:cNvSpPr/>
          <p:nvPr/>
        </p:nvSpPr>
        <p:spPr>
          <a:xfrm>
            <a:off x="510638" y="3544787"/>
            <a:ext cx="3498010" cy="48688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3111E93A-BDE4-C924-CA02-97D8BF2ABFD3}"/>
              </a:ext>
            </a:extLst>
          </p:cNvPr>
          <p:cNvCxnSpPr>
            <a:stCxn id="25" idx="3"/>
            <a:endCxn id="24" idx="1"/>
          </p:cNvCxnSpPr>
          <p:nvPr/>
        </p:nvCxnSpPr>
        <p:spPr>
          <a:xfrm>
            <a:off x="4008648" y="3788231"/>
            <a:ext cx="120865" cy="95245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5032E8D0-06E9-D15F-3E48-A1007A763A11}"/>
              </a:ext>
            </a:extLst>
          </p:cNvPr>
          <p:cNvSpPr/>
          <p:nvPr/>
        </p:nvSpPr>
        <p:spPr>
          <a:xfrm>
            <a:off x="6172199" y="2409606"/>
            <a:ext cx="4123707" cy="23169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521671D-2B7C-E335-DC4A-4E662EE704A4}"/>
              </a:ext>
            </a:extLst>
          </p:cNvPr>
          <p:cNvSpPr txBox="1"/>
          <p:nvPr/>
        </p:nvSpPr>
        <p:spPr>
          <a:xfrm>
            <a:off x="8730704" y="1530861"/>
            <a:ext cx="3351110" cy="523220"/>
          </a:xfrm>
          <a:prstGeom prst="rect">
            <a:avLst/>
          </a:prstGeom>
          <a:noFill/>
          <a:ln>
            <a:solidFill>
              <a:schemeClr val="accent2"/>
            </a:solidFill>
          </a:ln>
        </p:spPr>
        <p:txBody>
          <a:bodyPr wrap="none" rtlCol="0">
            <a:spAutoFit/>
          </a:bodyPr>
          <a:lstStyle/>
          <a:p>
            <a:r>
              <a:rPr lang="en-US" sz="1400" dirty="0"/>
              <a:t>The welcoming socket: to receive incoming </a:t>
            </a:r>
          </a:p>
          <a:p>
            <a:r>
              <a:rPr lang="en-US" sz="1400" dirty="0"/>
              <a:t>clients / the same socket for all clients </a:t>
            </a:r>
          </a:p>
        </p:txBody>
      </p:sp>
      <p:cxnSp>
        <p:nvCxnSpPr>
          <p:cNvPr id="31" name="Straight Connector 30">
            <a:extLst>
              <a:ext uri="{FF2B5EF4-FFF2-40B4-BE49-F238E27FC236}">
                <a16:creationId xmlns:a16="http://schemas.microsoft.com/office/drawing/2014/main" id="{B726C80C-6E01-63E1-7BB9-B6B168A91455}"/>
              </a:ext>
            </a:extLst>
          </p:cNvPr>
          <p:cNvCxnSpPr>
            <a:endCxn id="28" idx="3"/>
          </p:cNvCxnSpPr>
          <p:nvPr/>
        </p:nvCxnSpPr>
        <p:spPr>
          <a:xfrm flipH="1">
            <a:off x="10295906" y="2054081"/>
            <a:ext cx="154380" cy="47137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0D4D2291-0010-6545-7764-A3BB01CA5E6E}"/>
              </a:ext>
            </a:extLst>
          </p:cNvPr>
          <p:cNvSpPr/>
          <p:nvPr/>
        </p:nvSpPr>
        <p:spPr>
          <a:xfrm>
            <a:off x="6172199" y="2641297"/>
            <a:ext cx="4123707" cy="20454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8E8C8F4F-633A-577E-0869-12CA93470DC5}"/>
              </a:ext>
            </a:extLst>
          </p:cNvPr>
          <p:cNvSpPr txBox="1"/>
          <p:nvPr/>
        </p:nvSpPr>
        <p:spPr>
          <a:xfrm>
            <a:off x="10199516" y="2930673"/>
            <a:ext cx="1818904" cy="461665"/>
          </a:xfrm>
          <a:prstGeom prst="rect">
            <a:avLst/>
          </a:prstGeom>
          <a:solidFill>
            <a:schemeClr val="bg1"/>
          </a:solidFill>
          <a:ln>
            <a:solidFill>
              <a:schemeClr val="accent2"/>
            </a:solidFill>
          </a:ln>
        </p:spPr>
        <p:txBody>
          <a:bodyPr wrap="square" rtlCol="0">
            <a:spAutoFit/>
          </a:bodyPr>
          <a:lstStyle/>
          <a:p>
            <a:r>
              <a:rPr lang="en-US" sz="1200" dirty="0"/>
              <a:t>Listen on all network </a:t>
            </a:r>
          </a:p>
          <a:p>
            <a:r>
              <a:rPr lang="en-US" sz="1200" dirty="0"/>
              <a:t>interfaces on this machine </a:t>
            </a:r>
          </a:p>
        </p:txBody>
      </p:sp>
      <p:cxnSp>
        <p:nvCxnSpPr>
          <p:cNvPr id="35" name="Straight Connector 34">
            <a:extLst>
              <a:ext uri="{FF2B5EF4-FFF2-40B4-BE49-F238E27FC236}">
                <a16:creationId xmlns:a16="http://schemas.microsoft.com/office/drawing/2014/main" id="{E9DC188B-C797-2B8E-63F1-1D20A7A2F35C}"/>
              </a:ext>
            </a:extLst>
          </p:cNvPr>
          <p:cNvCxnSpPr>
            <a:cxnSpLocks/>
            <a:stCxn id="32" idx="3"/>
            <a:endCxn id="33" idx="0"/>
          </p:cNvCxnSpPr>
          <p:nvPr/>
        </p:nvCxnSpPr>
        <p:spPr>
          <a:xfrm>
            <a:off x="10295906" y="2743570"/>
            <a:ext cx="813062" cy="18710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1FC2DAC-83F4-0872-A965-4376A5CBB21F}"/>
              </a:ext>
            </a:extLst>
          </p:cNvPr>
          <p:cNvSpPr txBox="1"/>
          <p:nvPr/>
        </p:nvSpPr>
        <p:spPr>
          <a:xfrm>
            <a:off x="10424167" y="3921179"/>
            <a:ext cx="1732397" cy="523220"/>
          </a:xfrm>
          <a:prstGeom prst="rect">
            <a:avLst/>
          </a:prstGeom>
          <a:noFill/>
          <a:ln>
            <a:solidFill>
              <a:schemeClr val="accent2"/>
            </a:solidFill>
          </a:ln>
        </p:spPr>
        <p:txBody>
          <a:bodyPr wrap="none" rtlCol="0">
            <a:spAutoFit/>
          </a:bodyPr>
          <a:lstStyle/>
          <a:p>
            <a:r>
              <a:rPr lang="en-US" sz="1400" dirty="0"/>
              <a:t>Per-client connection</a:t>
            </a:r>
          </a:p>
          <a:p>
            <a:r>
              <a:rPr lang="en-US" sz="1400" dirty="0"/>
              <a:t>socket</a:t>
            </a:r>
          </a:p>
        </p:txBody>
      </p:sp>
      <p:sp>
        <p:nvSpPr>
          <p:cNvPr id="46" name="Rectangle 45">
            <a:extLst>
              <a:ext uri="{FF2B5EF4-FFF2-40B4-BE49-F238E27FC236}">
                <a16:creationId xmlns:a16="http://schemas.microsoft.com/office/drawing/2014/main" id="{1F4FD3D8-1CBB-06ED-2175-EEC6E41FA4F4}"/>
              </a:ext>
            </a:extLst>
          </p:cNvPr>
          <p:cNvSpPr/>
          <p:nvPr/>
        </p:nvSpPr>
        <p:spPr>
          <a:xfrm>
            <a:off x="6488781" y="3470637"/>
            <a:ext cx="5269400" cy="26779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F2A517F8-7B08-E524-FD69-218EB056E6F2}"/>
              </a:ext>
            </a:extLst>
          </p:cNvPr>
          <p:cNvCxnSpPr>
            <a:cxnSpLocks/>
            <a:endCxn id="45" idx="0"/>
          </p:cNvCxnSpPr>
          <p:nvPr/>
        </p:nvCxnSpPr>
        <p:spPr>
          <a:xfrm>
            <a:off x="10335373" y="3738427"/>
            <a:ext cx="954993" cy="1827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2C7551BB-7803-020D-99DB-53F6C361199F}"/>
              </a:ext>
            </a:extLst>
          </p:cNvPr>
          <p:cNvSpPr/>
          <p:nvPr/>
        </p:nvSpPr>
        <p:spPr>
          <a:xfrm>
            <a:off x="6522797" y="3767054"/>
            <a:ext cx="3547478" cy="243443"/>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00D65D28-7BBD-EAB3-A469-2C5D5D5820F0}"/>
              </a:ext>
            </a:extLst>
          </p:cNvPr>
          <p:cNvSpPr txBox="1"/>
          <p:nvPr/>
        </p:nvSpPr>
        <p:spPr>
          <a:xfrm>
            <a:off x="10289065" y="4602724"/>
            <a:ext cx="1902444" cy="738664"/>
          </a:xfrm>
          <a:prstGeom prst="rect">
            <a:avLst/>
          </a:prstGeom>
          <a:noFill/>
          <a:ln>
            <a:solidFill>
              <a:schemeClr val="accent2"/>
            </a:solidFill>
          </a:ln>
        </p:spPr>
        <p:txBody>
          <a:bodyPr wrap="none" rtlCol="0">
            <a:spAutoFit/>
          </a:bodyPr>
          <a:lstStyle/>
          <a:p>
            <a:r>
              <a:rPr lang="en-US" sz="1400" dirty="0"/>
              <a:t>Blocking calls: </a:t>
            </a:r>
            <a:r>
              <a:rPr lang="en-US" sz="1400" b="1" dirty="0"/>
              <a:t>recv</a:t>
            </a:r>
            <a:r>
              <a:rPr lang="en-US" sz="1400" dirty="0"/>
              <a:t> and </a:t>
            </a:r>
          </a:p>
          <a:p>
            <a:r>
              <a:rPr lang="en-US" sz="1400" b="1" dirty="0"/>
              <a:t>send</a:t>
            </a:r>
            <a:r>
              <a:rPr lang="en-US" sz="1400" dirty="0"/>
              <a:t> to/from</a:t>
            </a:r>
          </a:p>
          <a:p>
            <a:r>
              <a:rPr lang="en-US" sz="1400" dirty="0"/>
              <a:t>this particular client</a:t>
            </a:r>
          </a:p>
        </p:txBody>
      </p:sp>
      <p:cxnSp>
        <p:nvCxnSpPr>
          <p:cNvPr id="53" name="Straight Connector 52">
            <a:extLst>
              <a:ext uri="{FF2B5EF4-FFF2-40B4-BE49-F238E27FC236}">
                <a16:creationId xmlns:a16="http://schemas.microsoft.com/office/drawing/2014/main" id="{7766AF1A-FD74-B464-CFA0-8CD4F2740807}"/>
              </a:ext>
            </a:extLst>
          </p:cNvPr>
          <p:cNvCxnSpPr>
            <a:stCxn id="50" idx="3"/>
            <a:endCxn id="51" idx="1"/>
          </p:cNvCxnSpPr>
          <p:nvPr/>
        </p:nvCxnSpPr>
        <p:spPr>
          <a:xfrm>
            <a:off x="10070275" y="3888776"/>
            <a:ext cx="218790" cy="10832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021A660D-6ADF-92E0-45D4-D657C4CCD90C}"/>
              </a:ext>
            </a:extLst>
          </p:cNvPr>
          <p:cNvSpPr/>
          <p:nvPr/>
        </p:nvSpPr>
        <p:spPr>
          <a:xfrm>
            <a:off x="6614556" y="5093776"/>
            <a:ext cx="3372592" cy="24761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D265B410-C355-E4D7-1678-C74F962C67B3}"/>
              </a:ext>
            </a:extLst>
          </p:cNvPr>
          <p:cNvCxnSpPr>
            <a:endCxn id="51" idx="1"/>
          </p:cNvCxnSpPr>
          <p:nvPr/>
        </p:nvCxnSpPr>
        <p:spPr>
          <a:xfrm flipV="1">
            <a:off x="9963397" y="4972056"/>
            <a:ext cx="325668" cy="19103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847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 grpId="0" animBg="1"/>
      <p:bldP spid="4" grpId="0" animBg="1"/>
      <p:bldP spid="8" grpId="0" animBg="1"/>
      <p:bldP spid="10" grpId="0" animBg="1"/>
      <p:bldP spid="24" grpId="0" animBg="1"/>
      <p:bldP spid="25" grpId="0" animBg="1"/>
      <p:bldP spid="28" grpId="0" animBg="1"/>
      <p:bldP spid="29" grpId="0" animBg="1"/>
      <p:bldP spid="32" grpId="0" animBg="1"/>
      <p:bldP spid="33" grpId="0" animBg="1"/>
      <p:bldP spid="45" grpId="0" animBg="1"/>
      <p:bldP spid="46" grpId="0" animBg="1"/>
      <p:bldP spid="50" grpId="0" animBg="1"/>
      <p:bldP spid="51" grpId="0" animBg="1"/>
      <p:bldP spid="5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A6FAB-0C1A-F2F2-7486-59D77672A697}"/>
              </a:ext>
            </a:extLst>
          </p:cNvPr>
          <p:cNvSpPr>
            <a:spLocks noGrp="1"/>
          </p:cNvSpPr>
          <p:nvPr>
            <p:ph type="title"/>
          </p:nvPr>
        </p:nvSpPr>
        <p:spPr/>
        <p:txBody>
          <a:bodyPr>
            <a:normAutofit/>
          </a:bodyPr>
          <a:lstStyle/>
          <a:p>
            <a:pPr algn="ctr"/>
            <a:r>
              <a:rPr lang="en-US" b="1" dirty="0"/>
              <a:t>Handling Multiple Clients Concurrently</a:t>
            </a:r>
            <a:br>
              <a:rPr lang="en-US" b="1" dirty="0"/>
            </a:br>
            <a:r>
              <a:rPr lang="en-US" sz="2200" b="1" dirty="0"/>
              <a:t>The Multithreading Approach</a:t>
            </a:r>
          </a:p>
        </p:txBody>
      </p:sp>
      <p:pic>
        <p:nvPicPr>
          <p:cNvPr id="5" name="Content Placeholder 4" descr="A screenshot of a computer code&#10;&#10;AI-generated content may be incorrect.">
            <a:extLst>
              <a:ext uri="{FF2B5EF4-FFF2-40B4-BE49-F238E27FC236}">
                <a16:creationId xmlns:a16="http://schemas.microsoft.com/office/drawing/2014/main" id="{0C180997-3FA7-5A56-8F0B-08AAF985E865}"/>
              </a:ext>
            </a:extLst>
          </p:cNvPr>
          <p:cNvPicPr>
            <a:picLocks noGrp="1" noChangeAspect="1"/>
          </p:cNvPicPr>
          <p:nvPr>
            <p:ph idx="1"/>
          </p:nvPr>
        </p:nvPicPr>
        <p:blipFill>
          <a:blip r:embed="rId2"/>
          <a:stretch>
            <a:fillRect/>
          </a:stretch>
        </p:blipFill>
        <p:spPr>
          <a:xfrm>
            <a:off x="154380" y="1690688"/>
            <a:ext cx="9764037" cy="4611907"/>
          </a:xfrm>
        </p:spPr>
      </p:pic>
      <p:sp>
        <p:nvSpPr>
          <p:cNvPr id="6" name="Rectangle 5">
            <a:extLst>
              <a:ext uri="{FF2B5EF4-FFF2-40B4-BE49-F238E27FC236}">
                <a16:creationId xmlns:a16="http://schemas.microsoft.com/office/drawing/2014/main" id="{22844C97-DB0C-F91E-B325-3332CEF4FA73}"/>
              </a:ext>
            </a:extLst>
          </p:cNvPr>
          <p:cNvSpPr/>
          <p:nvPr/>
        </p:nvSpPr>
        <p:spPr>
          <a:xfrm>
            <a:off x="5272644" y="3616630"/>
            <a:ext cx="3194462" cy="76002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63A3F50-47EB-37D3-2BC2-7C200DC106E5}"/>
              </a:ext>
            </a:extLst>
          </p:cNvPr>
          <p:cNvSpPr txBox="1"/>
          <p:nvPr/>
        </p:nvSpPr>
        <p:spPr>
          <a:xfrm>
            <a:off x="9885312" y="2369920"/>
            <a:ext cx="1643270" cy="523220"/>
          </a:xfrm>
          <a:prstGeom prst="rect">
            <a:avLst/>
          </a:prstGeom>
          <a:noFill/>
          <a:ln>
            <a:solidFill>
              <a:schemeClr val="accent2"/>
            </a:solidFill>
          </a:ln>
        </p:spPr>
        <p:txBody>
          <a:bodyPr wrap="none" rtlCol="0">
            <a:spAutoFit/>
          </a:bodyPr>
          <a:lstStyle/>
          <a:p>
            <a:r>
              <a:rPr lang="en-US" sz="1400" dirty="0"/>
              <a:t>Serve this client in a</a:t>
            </a:r>
          </a:p>
          <a:p>
            <a:r>
              <a:rPr lang="en-US" sz="1400" dirty="0"/>
              <a:t>separate thread</a:t>
            </a:r>
          </a:p>
        </p:txBody>
      </p:sp>
      <p:cxnSp>
        <p:nvCxnSpPr>
          <p:cNvPr id="9" name="Straight Connector 8">
            <a:extLst>
              <a:ext uri="{FF2B5EF4-FFF2-40B4-BE49-F238E27FC236}">
                <a16:creationId xmlns:a16="http://schemas.microsoft.com/office/drawing/2014/main" id="{52CD7FFE-5A1E-D2F9-C409-0F6BED1FE192}"/>
              </a:ext>
            </a:extLst>
          </p:cNvPr>
          <p:cNvCxnSpPr>
            <a:stCxn id="6" idx="3"/>
            <a:endCxn id="7" idx="1"/>
          </p:cNvCxnSpPr>
          <p:nvPr/>
        </p:nvCxnSpPr>
        <p:spPr>
          <a:xfrm flipV="1">
            <a:off x="8467106" y="2631530"/>
            <a:ext cx="1418206" cy="13651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B467E3B-628D-A2D6-0B57-571EE872E96E}"/>
              </a:ext>
            </a:extLst>
          </p:cNvPr>
          <p:cNvSpPr/>
          <p:nvPr/>
        </p:nvSpPr>
        <p:spPr>
          <a:xfrm>
            <a:off x="261257" y="3616630"/>
            <a:ext cx="4358244" cy="247541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E9700E6-E629-89F9-4127-42A01B0CA565}"/>
              </a:ext>
            </a:extLst>
          </p:cNvPr>
          <p:cNvSpPr txBox="1"/>
          <p:nvPr/>
        </p:nvSpPr>
        <p:spPr>
          <a:xfrm>
            <a:off x="838200" y="6302593"/>
            <a:ext cx="4552465" cy="523220"/>
          </a:xfrm>
          <a:prstGeom prst="rect">
            <a:avLst/>
          </a:prstGeom>
          <a:noFill/>
          <a:ln>
            <a:solidFill>
              <a:schemeClr val="accent2"/>
            </a:solidFill>
          </a:ln>
        </p:spPr>
        <p:txBody>
          <a:bodyPr wrap="none" rtlCol="0">
            <a:spAutoFit/>
          </a:bodyPr>
          <a:lstStyle/>
          <a:p>
            <a:r>
              <a:rPr lang="en-US" sz="1400" dirty="0"/>
              <a:t>The client thread function: would require synchronization if </a:t>
            </a:r>
          </a:p>
          <a:p>
            <a:r>
              <a:rPr lang="en-US" sz="1400" dirty="0"/>
              <a:t>client threads are accessing/modifying shared data</a:t>
            </a:r>
          </a:p>
        </p:txBody>
      </p:sp>
      <p:cxnSp>
        <p:nvCxnSpPr>
          <p:cNvPr id="13" name="Straight Connector 12">
            <a:extLst>
              <a:ext uri="{FF2B5EF4-FFF2-40B4-BE49-F238E27FC236}">
                <a16:creationId xmlns:a16="http://schemas.microsoft.com/office/drawing/2014/main" id="{B1EFC12B-68B6-378B-B90C-C4498414EEE0}"/>
              </a:ext>
            </a:extLst>
          </p:cNvPr>
          <p:cNvCxnSpPr>
            <a:stCxn id="11" idx="0"/>
            <a:endCxn id="10" idx="2"/>
          </p:cNvCxnSpPr>
          <p:nvPr/>
        </p:nvCxnSpPr>
        <p:spPr>
          <a:xfrm flipH="1" flipV="1">
            <a:off x="2440379" y="6092042"/>
            <a:ext cx="674054" cy="210551"/>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038B86FF-870A-1527-F72F-B396E6109776}"/>
              </a:ext>
            </a:extLst>
          </p:cNvPr>
          <p:cNvSpPr/>
          <p:nvPr/>
        </p:nvSpPr>
        <p:spPr>
          <a:xfrm>
            <a:off x="261257" y="3093412"/>
            <a:ext cx="3574473" cy="220673"/>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CCD444D-D8C6-66A6-F187-A8E51075DBE7}"/>
              </a:ext>
            </a:extLst>
          </p:cNvPr>
          <p:cNvSpPr txBox="1"/>
          <p:nvPr/>
        </p:nvSpPr>
        <p:spPr>
          <a:xfrm>
            <a:off x="3518159" y="2058437"/>
            <a:ext cx="3702937" cy="523220"/>
          </a:xfrm>
          <a:prstGeom prst="rect">
            <a:avLst/>
          </a:prstGeom>
          <a:solidFill>
            <a:schemeClr val="bg1"/>
          </a:solidFill>
          <a:ln>
            <a:solidFill>
              <a:schemeClr val="accent2"/>
            </a:solidFill>
          </a:ln>
        </p:spPr>
        <p:txBody>
          <a:bodyPr wrap="none" rtlCol="0">
            <a:spAutoFit/>
          </a:bodyPr>
          <a:lstStyle/>
          <a:p>
            <a:r>
              <a:rPr lang="en-US" sz="1400" dirty="0"/>
              <a:t>Up to 5 clients can wait in the connection queue</a:t>
            </a:r>
          </a:p>
          <a:p>
            <a:r>
              <a:rPr lang="en-US" sz="1400" dirty="0"/>
              <a:t>(could be set to a reasonable upper bound)</a:t>
            </a:r>
          </a:p>
        </p:txBody>
      </p:sp>
      <p:cxnSp>
        <p:nvCxnSpPr>
          <p:cNvPr id="18" name="Straight Connector 17">
            <a:extLst>
              <a:ext uri="{FF2B5EF4-FFF2-40B4-BE49-F238E27FC236}">
                <a16:creationId xmlns:a16="http://schemas.microsoft.com/office/drawing/2014/main" id="{EFFAC997-0659-EB9E-4D57-CC72BFFC0B31}"/>
              </a:ext>
            </a:extLst>
          </p:cNvPr>
          <p:cNvCxnSpPr>
            <a:stCxn id="14" idx="3"/>
            <a:endCxn id="16" idx="2"/>
          </p:cNvCxnSpPr>
          <p:nvPr/>
        </p:nvCxnSpPr>
        <p:spPr>
          <a:xfrm flipV="1">
            <a:off x="3835730" y="2581657"/>
            <a:ext cx="1533898" cy="62209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208D526-C5F2-6E76-692A-7A9A4DBDC16F}"/>
              </a:ext>
            </a:extLst>
          </p:cNvPr>
          <p:cNvSpPr txBox="1"/>
          <p:nvPr/>
        </p:nvSpPr>
        <p:spPr>
          <a:xfrm>
            <a:off x="47501" y="1413721"/>
            <a:ext cx="4538743" cy="369332"/>
          </a:xfrm>
          <a:prstGeom prst="rect">
            <a:avLst/>
          </a:prstGeom>
          <a:noFill/>
        </p:spPr>
        <p:txBody>
          <a:bodyPr wrap="none" rtlCol="0">
            <a:spAutoFit/>
          </a:bodyPr>
          <a:lstStyle/>
          <a:p>
            <a:r>
              <a:rPr lang="en-US" b="1" dirty="0"/>
              <a:t>The modified TCP server with multi-threading</a:t>
            </a:r>
          </a:p>
        </p:txBody>
      </p:sp>
      <p:sp>
        <p:nvSpPr>
          <p:cNvPr id="20" name="TextBox 19">
            <a:extLst>
              <a:ext uri="{FF2B5EF4-FFF2-40B4-BE49-F238E27FC236}">
                <a16:creationId xmlns:a16="http://schemas.microsoft.com/office/drawing/2014/main" id="{0D639D95-86D5-F4BC-5ED0-C2F3E0A6A2D4}"/>
              </a:ext>
            </a:extLst>
          </p:cNvPr>
          <p:cNvSpPr txBox="1"/>
          <p:nvPr/>
        </p:nvSpPr>
        <p:spPr>
          <a:xfrm>
            <a:off x="8650987" y="3108954"/>
            <a:ext cx="3506986" cy="3539430"/>
          </a:xfrm>
          <a:prstGeom prst="rect">
            <a:avLst/>
          </a:prstGeom>
          <a:solidFill>
            <a:schemeClr val="bg1"/>
          </a:solidFill>
          <a:ln>
            <a:solidFill>
              <a:schemeClr val="accent2"/>
            </a:solidFill>
          </a:ln>
        </p:spPr>
        <p:txBody>
          <a:bodyPr wrap="none" rtlCol="0">
            <a:spAutoFit/>
          </a:bodyPr>
          <a:lstStyle/>
          <a:p>
            <a:r>
              <a:rPr lang="en-US" sz="1400" dirty="0"/>
              <a:t>The usual synchronization</a:t>
            </a:r>
          </a:p>
          <a:p>
            <a:r>
              <a:rPr lang="en-US" sz="1400" dirty="0"/>
              <a:t>tools can be used. </a:t>
            </a:r>
          </a:p>
          <a:p>
            <a:r>
              <a:rPr lang="en-US" sz="1400" dirty="0"/>
              <a:t>For example:</a:t>
            </a:r>
          </a:p>
          <a:p>
            <a:r>
              <a:rPr lang="en-US" sz="1400" b="1" dirty="0"/>
              <a:t>Mutexes</a:t>
            </a:r>
            <a:r>
              <a:rPr lang="en-US" sz="1400" dirty="0"/>
              <a:t>:</a:t>
            </a:r>
            <a:br>
              <a:rPr lang="en-US" sz="1400" dirty="0"/>
            </a:br>
            <a:r>
              <a:rPr lang="en-US" sz="1400" dirty="0"/>
              <a:t>from threading import Lock</a:t>
            </a:r>
          </a:p>
          <a:p>
            <a:r>
              <a:rPr lang="en-US" sz="1400" dirty="0"/>
              <a:t>lock = Lock()</a:t>
            </a:r>
          </a:p>
          <a:p>
            <a:r>
              <a:rPr lang="en-US" sz="1400" dirty="0"/>
              <a:t>with lock:  # acquire and auto-release</a:t>
            </a:r>
          </a:p>
          <a:p>
            <a:r>
              <a:rPr lang="en-US" sz="1400" dirty="0"/>
              <a:t>    # critical section - only one thread at a time</a:t>
            </a:r>
          </a:p>
          <a:p>
            <a:endParaRPr lang="en-US" sz="1400" dirty="0"/>
          </a:p>
          <a:p>
            <a:r>
              <a:rPr lang="en-US" sz="1400" b="1" dirty="0"/>
              <a:t>Semaphores</a:t>
            </a:r>
            <a:r>
              <a:rPr lang="en-US" sz="1400" dirty="0"/>
              <a:t>:</a:t>
            </a:r>
          </a:p>
          <a:p>
            <a:r>
              <a:rPr lang="en-US" sz="1400" dirty="0"/>
              <a:t>from threading import Semaphore</a:t>
            </a:r>
          </a:p>
          <a:p>
            <a:r>
              <a:rPr lang="en-US" sz="1400" dirty="0" err="1"/>
              <a:t>sem</a:t>
            </a:r>
            <a:r>
              <a:rPr lang="en-US" sz="1400" dirty="0"/>
              <a:t> = Semaphore(3)  # allow 3 threads max</a:t>
            </a:r>
          </a:p>
          <a:p>
            <a:r>
              <a:rPr lang="en-US" sz="1400" dirty="0"/>
              <a:t>with </a:t>
            </a:r>
            <a:r>
              <a:rPr lang="en-US" sz="1400" dirty="0" err="1"/>
              <a:t>sem</a:t>
            </a:r>
            <a:r>
              <a:rPr lang="en-US" sz="1400" dirty="0"/>
              <a:t>:  # one of 3 slots</a:t>
            </a:r>
          </a:p>
          <a:p>
            <a:r>
              <a:rPr lang="en-US" sz="1400" dirty="0"/>
              <a:t>    # limited concurrent access</a:t>
            </a:r>
          </a:p>
          <a:p>
            <a:endParaRPr lang="en-US" sz="1400" dirty="0"/>
          </a:p>
          <a:p>
            <a:r>
              <a:rPr lang="en-US" sz="1400" dirty="0"/>
              <a:t>Similarly, Condition Variables, Barriers, etc.</a:t>
            </a:r>
          </a:p>
        </p:txBody>
      </p:sp>
      <p:sp>
        <p:nvSpPr>
          <p:cNvPr id="21" name="TextBox 20">
            <a:extLst>
              <a:ext uri="{FF2B5EF4-FFF2-40B4-BE49-F238E27FC236}">
                <a16:creationId xmlns:a16="http://schemas.microsoft.com/office/drawing/2014/main" id="{46917C21-3858-7302-0F11-0FD6DBDD7E99}"/>
              </a:ext>
            </a:extLst>
          </p:cNvPr>
          <p:cNvSpPr txBox="1"/>
          <p:nvPr/>
        </p:nvSpPr>
        <p:spPr>
          <a:xfrm>
            <a:off x="4651752" y="4968476"/>
            <a:ext cx="3966983" cy="954107"/>
          </a:xfrm>
          <a:prstGeom prst="rect">
            <a:avLst/>
          </a:prstGeom>
          <a:solidFill>
            <a:schemeClr val="bg1"/>
          </a:solidFill>
          <a:ln>
            <a:solidFill>
              <a:schemeClr val="accent2"/>
            </a:solidFill>
          </a:ln>
        </p:spPr>
        <p:txBody>
          <a:bodyPr wrap="none" rtlCol="0">
            <a:spAutoFit/>
          </a:bodyPr>
          <a:lstStyle/>
          <a:p>
            <a:r>
              <a:rPr lang="en-US" sz="1400" dirty="0"/>
              <a:t>Using </a:t>
            </a:r>
            <a:r>
              <a:rPr lang="en-US" sz="1400" b="1" dirty="0"/>
              <a:t>pthread</a:t>
            </a:r>
            <a:r>
              <a:rPr lang="en-US" sz="1400" dirty="0"/>
              <a:t> under-the-hood (UNIX based system)</a:t>
            </a:r>
            <a:br>
              <a:rPr lang="en-US" sz="1400" dirty="0"/>
            </a:br>
            <a:r>
              <a:rPr lang="en-US" sz="1400" dirty="0" err="1"/>
              <a:t>threading.Thread</a:t>
            </a:r>
            <a:r>
              <a:rPr lang="en-US" sz="1400" dirty="0"/>
              <a:t> → pthread_create()</a:t>
            </a:r>
          </a:p>
          <a:p>
            <a:r>
              <a:rPr lang="en-US" sz="1400" dirty="0" err="1"/>
              <a:t>threading.Lock</a:t>
            </a:r>
            <a:r>
              <a:rPr lang="en-US" sz="1400" dirty="0"/>
              <a:t> → </a:t>
            </a:r>
            <a:r>
              <a:rPr lang="en-US" sz="1400" dirty="0" err="1"/>
              <a:t>pthread_mutex_t</a:t>
            </a:r>
            <a:endParaRPr lang="en-US" sz="1400" dirty="0"/>
          </a:p>
          <a:p>
            <a:r>
              <a:rPr lang="en-US" sz="1400" dirty="0" err="1"/>
              <a:t>threading.Semaphore</a:t>
            </a:r>
            <a:r>
              <a:rPr lang="en-US" sz="1400" dirty="0"/>
              <a:t> → POSIX semaphores</a:t>
            </a:r>
          </a:p>
        </p:txBody>
      </p:sp>
    </p:spTree>
    <p:extLst>
      <p:ext uri="{BB962C8B-B14F-4D97-AF65-F5344CB8AC3E}">
        <p14:creationId xmlns:p14="http://schemas.microsoft.com/office/powerpoint/2010/main" val="44788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4" grpId="0" animBg="1"/>
      <p:bldP spid="16" grpId="0" animBg="1"/>
      <p:bldP spid="20"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B18A7-09EF-D60C-59EB-A1E938ADD934}"/>
              </a:ext>
            </a:extLst>
          </p:cNvPr>
          <p:cNvSpPr>
            <a:spLocks noGrp="1"/>
          </p:cNvSpPr>
          <p:nvPr>
            <p:ph type="title"/>
          </p:nvPr>
        </p:nvSpPr>
        <p:spPr/>
        <p:txBody>
          <a:bodyPr>
            <a:normAutofit/>
          </a:bodyPr>
          <a:lstStyle/>
          <a:p>
            <a:pPr algn="ctr"/>
            <a:r>
              <a:rPr lang="en-US" sz="3600" b="1" dirty="0"/>
              <a:t>Concurrency without Multithreading?</a:t>
            </a:r>
          </a:p>
        </p:txBody>
      </p:sp>
      <p:sp>
        <p:nvSpPr>
          <p:cNvPr id="3" name="Content Placeholder 2">
            <a:extLst>
              <a:ext uri="{FF2B5EF4-FFF2-40B4-BE49-F238E27FC236}">
                <a16:creationId xmlns:a16="http://schemas.microsoft.com/office/drawing/2014/main" id="{342CD7DC-F31A-3E36-7FA6-29E8207ACCCD}"/>
              </a:ext>
            </a:extLst>
          </p:cNvPr>
          <p:cNvSpPr>
            <a:spLocks noGrp="1"/>
          </p:cNvSpPr>
          <p:nvPr>
            <p:ph idx="1"/>
          </p:nvPr>
        </p:nvSpPr>
        <p:spPr>
          <a:xfrm>
            <a:off x="921327" y="1690688"/>
            <a:ext cx="4921332" cy="4351338"/>
          </a:xfrm>
          <a:ln>
            <a:solidFill>
              <a:schemeClr val="tx1"/>
            </a:solidFill>
          </a:ln>
        </p:spPr>
        <p:txBody>
          <a:bodyPr>
            <a:normAutofit fontScale="40000" lnSpcReduction="20000"/>
          </a:bodyPr>
          <a:lstStyle/>
          <a:p>
            <a:pPr marL="0" indent="0">
              <a:buNone/>
            </a:pPr>
            <a:r>
              <a:rPr lang="en-US" sz="6700" b="1" dirty="0"/>
              <a:t>Multithreading Pros and Cons</a:t>
            </a:r>
            <a:br>
              <a:rPr lang="en-US" dirty="0"/>
            </a:br>
            <a:endParaRPr lang="en-US" dirty="0"/>
          </a:p>
          <a:p>
            <a:pPr marL="0" indent="0">
              <a:buNone/>
            </a:pPr>
            <a:r>
              <a:rPr lang="en-GB" b="1" dirty="0"/>
              <a:t>Pros:</a:t>
            </a:r>
          </a:p>
          <a:p>
            <a:r>
              <a:rPr lang="en-GB" b="1" dirty="0"/>
              <a:t>Intuitive</a:t>
            </a:r>
            <a:r>
              <a:rPr lang="en-GB" dirty="0"/>
              <a:t>: Each client gets mapped to one thread, familiar sequential code</a:t>
            </a:r>
          </a:p>
          <a:p>
            <a:r>
              <a:rPr lang="en-GB" b="1" dirty="0"/>
              <a:t>True parallelism</a:t>
            </a:r>
            <a:r>
              <a:rPr lang="en-GB" dirty="0"/>
              <a:t> for I/O operations (threads can wait independently), multiple cores can be exploited</a:t>
            </a:r>
          </a:p>
          <a:p>
            <a:r>
              <a:rPr lang="en-GB" b="1" dirty="0"/>
              <a:t>Preemptive scheduling</a:t>
            </a:r>
            <a:r>
              <a:rPr lang="en-GB" dirty="0"/>
              <a:t>: OS handles switching between threads automatically</a:t>
            </a:r>
          </a:p>
          <a:p>
            <a:r>
              <a:rPr lang="en-GB" b="1" dirty="0"/>
              <a:t>Works well</a:t>
            </a:r>
            <a:r>
              <a:rPr lang="en-GB" dirty="0"/>
              <a:t> for blocking I/O (like our </a:t>
            </a:r>
            <a:r>
              <a:rPr lang="en-GB" dirty="0" err="1"/>
              <a:t>recv</a:t>
            </a:r>
            <a:r>
              <a:rPr lang="en-GB" dirty="0"/>
              <a:t>() calls)</a:t>
            </a:r>
          </a:p>
          <a:p>
            <a:pPr marL="0" indent="0">
              <a:buNone/>
            </a:pPr>
            <a:endParaRPr lang="en-GB" b="1" dirty="0"/>
          </a:p>
          <a:p>
            <a:pPr marL="0" indent="0">
              <a:buNone/>
            </a:pPr>
            <a:r>
              <a:rPr lang="en-GB" b="1" dirty="0"/>
              <a:t>Cons:</a:t>
            </a:r>
          </a:p>
          <a:p>
            <a:r>
              <a:rPr lang="en-GB" b="1" dirty="0"/>
              <a:t>Resource overhead</a:t>
            </a:r>
            <a:r>
              <a:rPr lang="en-GB" dirty="0"/>
              <a:t>: Each thread uses memory (~8MB stack per thread on Linux)</a:t>
            </a:r>
          </a:p>
          <a:p>
            <a:r>
              <a:rPr lang="en-GB" b="1" dirty="0"/>
              <a:t>Scalability limits</a:t>
            </a:r>
            <a:r>
              <a:rPr lang="en-GB" dirty="0"/>
              <a:t>: Thousands of threads </a:t>
            </a:r>
            <a:r>
              <a:rPr lang="en-GB" dirty="0">
                <a:sym typeface="Wingdings" pitchFamily="2" charset="2"/>
              </a:rPr>
              <a:t></a:t>
            </a:r>
            <a:r>
              <a:rPr lang="en-GB" dirty="0"/>
              <a:t> performance degradation</a:t>
            </a:r>
          </a:p>
          <a:p>
            <a:r>
              <a:rPr lang="en-GB" b="1" dirty="0"/>
              <a:t>Context switching cost</a:t>
            </a:r>
            <a:r>
              <a:rPr lang="en-GB" dirty="0"/>
              <a:t>: OS must save/restore thread state</a:t>
            </a:r>
          </a:p>
          <a:p>
            <a:r>
              <a:rPr lang="en-GB" b="1" dirty="0"/>
              <a:t>Synchronization complexity</a:t>
            </a:r>
            <a:r>
              <a:rPr lang="en-GB" dirty="0"/>
              <a:t>: Mishandling of locks, semaphores </a:t>
            </a:r>
            <a:r>
              <a:rPr lang="en-GB" dirty="0">
                <a:sym typeface="Wingdings" pitchFamily="2" charset="2"/>
              </a:rPr>
              <a:t></a:t>
            </a:r>
            <a:r>
              <a:rPr lang="en-GB" dirty="0"/>
              <a:t> potential deadlocks, race conditions</a:t>
            </a:r>
          </a:p>
          <a:p>
            <a:pPr marL="0" indent="0">
              <a:buNone/>
            </a:pPr>
            <a:endParaRPr lang="en-US" dirty="0"/>
          </a:p>
        </p:txBody>
      </p:sp>
      <p:sp>
        <p:nvSpPr>
          <p:cNvPr id="5" name="Content Placeholder 2">
            <a:extLst>
              <a:ext uri="{FF2B5EF4-FFF2-40B4-BE49-F238E27FC236}">
                <a16:creationId xmlns:a16="http://schemas.microsoft.com/office/drawing/2014/main" id="{9F3B203C-CB42-CB58-709B-EBE42E37E717}"/>
              </a:ext>
            </a:extLst>
          </p:cNvPr>
          <p:cNvSpPr txBox="1">
            <a:spLocks/>
          </p:cNvSpPr>
          <p:nvPr/>
        </p:nvSpPr>
        <p:spPr>
          <a:xfrm>
            <a:off x="6310747" y="1690688"/>
            <a:ext cx="4921332" cy="4351338"/>
          </a:xfrm>
          <a:prstGeom prst="rect">
            <a:avLst/>
          </a:prstGeom>
          <a:ln>
            <a:solidFill>
              <a:schemeClr val="tx1"/>
            </a:solidFill>
          </a:ln>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800" b="1" dirty="0"/>
              <a:t>An alternative approach</a:t>
            </a:r>
            <a:endParaRPr lang="en-US" sz="3800" dirty="0"/>
          </a:p>
          <a:p>
            <a:endParaRPr lang="en-US" dirty="0"/>
          </a:p>
          <a:p>
            <a:r>
              <a:rPr lang="en-US" dirty="0"/>
              <a:t>Implement </a:t>
            </a:r>
            <a:r>
              <a:rPr lang="en-US" b="1" dirty="0"/>
              <a:t>user-level cooperative scheduling </a:t>
            </a:r>
          </a:p>
          <a:p>
            <a:r>
              <a:rPr lang="en-US" dirty="0"/>
              <a:t>An </a:t>
            </a:r>
            <a:r>
              <a:rPr lang="en-US" b="1" dirty="0"/>
              <a:t>event-loop (a single thread) schedules different coroutines </a:t>
            </a:r>
            <a:r>
              <a:rPr lang="en-US" dirty="0"/>
              <a:t>based on events, e.g., a socket can be read from</a:t>
            </a:r>
          </a:p>
          <a:p>
            <a:r>
              <a:rPr lang="en-US" dirty="0"/>
              <a:t>Only the event loop potentially blocks in the kernel waiting for I/O readiness for any coroutine</a:t>
            </a:r>
          </a:p>
          <a:p>
            <a:r>
              <a:rPr lang="en-US" dirty="0"/>
              <a:t>Coroutines use </a:t>
            </a:r>
            <a:r>
              <a:rPr lang="en-US" b="1" dirty="0"/>
              <a:t>non-blocking sockets</a:t>
            </a:r>
            <a:r>
              <a:rPr lang="en-US" dirty="0"/>
              <a:t> asynchronously when scheduled by the event loop </a:t>
            </a:r>
          </a:p>
          <a:p>
            <a:endParaRPr lang="en-US" dirty="0"/>
          </a:p>
          <a:p>
            <a:r>
              <a:rPr lang="en-US" dirty="0"/>
              <a:t>Specifically:</a:t>
            </a:r>
          </a:p>
          <a:p>
            <a:pPr lvl="1"/>
            <a:r>
              <a:rPr lang="en-US" dirty="0"/>
              <a:t>When a coroutine needs to send/recv on a socket it </a:t>
            </a:r>
            <a:r>
              <a:rPr lang="en-US" b="1" dirty="0"/>
              <a:t>yields control to the event loop </a:t>
            </a:r>
          </a:p>
          <a:p>
            <a:pPr lvl="1"/>
            <a:r>
              <a:rPr lang="en-US" dirty="0"/>
              <a:t>The </a:t>
            </a:r>
            <a:r>
              <a:rPr lang="en-US" b="1" dirty="0"/>
              <a:t>event loop uses a system call: select/epoll to monitor multiple sockets</a:t>
            </a:r>
            <a:r>
              <a:rPr lang="en-US" dirty="0"/>
              <a:t>, resumes coroutines when their I/O is ready, allowing non-blocking operations</a:t>
            </a:r>
          </a:p>
        </p:txBody>
      </p:sp>
    </p:spTree>
    <p:extLst>
      <p:ext uri="{BB962C8B-B14F-4D97-AF65-F5344CB8AC3E}">
        <p14:creationId xmlns:p14="http://schemas.microsoft.com/office/powerpoint/2010/main" val="2023138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3893E-77DC-C9C0-79DA-FD6C003473E5}"/>
              </a:ext>
            </a:extLst>
          </p:cNvPr>
          <p:cNvSpPr>
            <a:spLocks noGrp="1"/>
          </p:cNvSpPr>
          <p:nvPr>
            <p:ph type="title"/>
          </p:nvPr>
        </p:nvSpPr>
        <p:spPr/>
        <p:txBody>
          <a:bodyPr/>
          <a:lstStyle/>
          <a:p>
            <a:pPr algn="ctr"/>
            <a:r>
              <a:rPr lang="en-US" b="1" dirty="0"/>
              <a:t>Handling Multiple Clients Concurrently</a:t>
            </a:r>
            <a:br>
              <a:rPr lang="en-US" b="1" dirty="0"/>
            </a:br>
            <a:r>
              <a:rPr lang="en-US" sz="2200" b="1" dirty="0"/>
              <a:t>Using Event-Based Concurrency</a:t>
            </a:r>
            <a:endParaRPr lang="en-US" b="1" dirty="0"/>
          </a:p>
        </p:txBody>
      </p:sp>
      <p:pic>
        <p:nvPicPr>
          <p:cNvPr id="5" name="Content Placeholder 4" descr="A computer code with black text&#10;&#10;AI-generated content may be incorrect.">
            <a:extLst>
              <a:ext uri="{FF2B5EF4-FFF2-40B4-BE49-F238E27FC236}">
                <a16:creationId xmlns:a16="http://schemas.microsoft.com/office/drawing/2014/main" id="{CE291049-D172-C665-09F7-07BD91CCB6F9}"/>
              </a:ext>
            </a:extLst>
          </p:cNvPr>
          <p:cNvPicPr>
            <a:picLocks noGrp="1" noChangeAspect="1"/>
          </p:cNvPicPr>
          <p:nvPr>
            <p:ph idx="1"/>
          </p:nvPr>
        </p:nvPicPr>
        <p:blipFill>
          <a:blip r:embed="rId2"/>
          <a:stretch>
            <a:fillRect/>
          </a:stretch>
        </p:blipFill>
        <p:spPr>
          <a:xfrm>
            <a:off x="-25170" y="2319667"/>
            <a:ext cx="7640271" cy="4351338"/>
          </a:xfrm>
        </p:spPr>
      </p:pic>
      <p:sp>
        <p:nvSpPr>
          <p:cNvPr id="6" name="TextBox 5">
            <a:extLst>
              <a:ext uri="{FF2B5EF4-FFF2-40B4-BE49-F238E27FC236}">
                <a16:creationId xmlns:a16="http://schemas.microsoft.com/office/drawing/2014/main" id="{56293840-FFF1-D051-FE1C-E50BAE775C6F}"/>
              </a:ext>
            </a:extLst>
          </p:cNvPr>
          <p:cNvSpPr txBox="1"/>
          <p:nvPr/>
        </p:nvSpPr>
        <p:spPr>
          <a:xfrm>
            <a:off x="101929" y="1978478"/>
            <a:ext cx="1008609" cy="369332"/>
          </a:xfrm>
          <a:prstGeom prst="rect">
            <a:avLst/>
          </a:prstGeom>
          <a:noFill/>
        </p:spPr>
        <p:txBody>
          <a:bodyPr wrap="none" rtlCol="0">
            <a:spAutoFit/>
          </a:bodyPr>
          <a:lstStyle/>
          <a:p>
            <a:r>
              <a:rPr lang="en-US" b="1" dirty="0"/>
              <a:t>Timeline</a:t>
            </a:r>
          </a:p>
        </p:txBody>
      </p:sp>
      <p:pic>
        <p:nvPicPr>
          <p:cNvPr id="8" name="Picture 7" descr="A white background with black text&#10;&#10;AI-generated content may be incorrect.">
            <a:extLst>
              <a:ext uri="{FF2B5EF4-FFF2-40B4-BE49-F238E27FC236}">
                <a16:creationId xmlns:a16="http://schemas.microsoft.com/office/drawing/2014/main" id="{0FAD139E-58F5-4A01-2A7B-11473EA41A1E}"/>
              </a:ext>
            </a:extLst>
          </p:cNvPr>
          <p:cNvPicPr>
            <a:picLocks noChangeAspect="1"/>
          </p:cNvPicPr>
          <p:nvPr/>
        </p:nvPicPr>
        <p:blipFill>
          <a:blip r:embed="rId3"/>
          <a:stretch>
            <a:fillRect/>
          </a:stretch>
        </p:blipFill>
        <p:spPr>
          <a:xfrm>
            <a:off x="6423865" y="4169722"/>
            <a:ext cx="4963693" cy="1475277"/>
          </a:xfrm>
          <a:prstGeom prst="rect">
            <a:avLst/>
          </a:prstGeom>
          <a:ln w="19050">
            <a:solidFill>
              <a:schemeClr val="accent2"/>
            </a:solidFill>
          </a:ln>
        </p:spPr>
      </p:pic>
      <p:cxnSp>
        <p:nvCxnSpPr>
          <p:cNvPr id="14" name="Straight Arrow Connector 13">
            <a:extLst>
              <a:ext uri="{FF2B5EF4-FFF2-40B4-BE49-F238E27FC236}">
                <a16:creationId xmlns:a16="http://schemas.microsoft.com/office/drawing/2014/main" id="{D587246C-0376-51B2-FEC3-0366008A59BC}"/>
              </a:ext>
            </a:extLst>
          </p:cNvPr>
          <p:cNvCxnSpPr>
            <a:cxnSpLocks/>
          </p:cNvCxnSpPr>
          <p:nvPr/>
        </p:nvCxnSpPr>
        <p:spPr>
          <a:xfrm flipV="1">
            <a:off x="2695699" y="4169722"/>
            <a:ext cx="3728166" cy="1045961"/>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DEED6B7-3C80-921E-9B39-0E308E84A325}"/>
              </a:ext>
            </a:extLst>
          </p:cNvPr>
          <p:cNvCxnSpPr>
            <a:cxnSpLocks/>
          </p:cNvCxnSpPr>
          <p:nvPr/>
        </p:nvCxnSpPr>
        <p:spPr>
          <a:xfrm flipH="1">
            <a:off x="3396343" y="5644999"/>
            <a:ext cx="3027522" cy="197661"/>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8" name="Picture 17" descr="A white background with black text&#10;&#10;AI-generated content may be incorrect.">
            <a:extLst>
              <a:ext uri="{FF2B5EF4-FFF2-40B4-BE49-F238E27FC236}">
                <a16:creationId xmlns:a16="http://schemas.microsoft.com/office/drawing/2014/main" id="{26F1A1FD-7020-FF91-D292-106888EC50F0}"/>
              </a:ext>
            </a:extLst>
          </p:cNvPr>
          <p:cNvPicPr>
            <a:picLocks noChangeAspect="1"/>
          </p:cNvPicPr>
          <p:nvPr/>
        </p:nvPicPr>
        <p:blipFill>
          <a:blip r:embed="rId4"/>
          <a:stretch>
            <a:fillRect/>
          </a:stretch>
        </p:blipFill>
        <p:spPr>
          <a:xfrm>
            <a:off x="6423865" y="1642317"/>
            <a:ext cx="5574306" cy="1475277"/>
          </a:xfrm>
          <a:prstGeom prst="rect">
            <a:avLst/>
          </a:prstGeom>
          <a:ln>
            <a:solidFill>
              <a:schemeClr val="tx1"/>
            </a:solidFill>
          </a:ln>
        </p:spPr>
      </p:pic>
      <p:sp>
        <p:nvSpPr>
          <p:cNvPr id="21" name="TextBox 20">
            <a:extLst>
              <a:ext uri="{FF2B5EF4-FFF2-40B4-BE49-F238E27FC236}">
                <a16:creationId xmlns:a16="http://schemas.microsoft.com/office/drawing/2014/main" id="{CCB20624-9492-2BC3-A754-07D7CD97B2FD}"/>
              </a:ext>
            </a:extLst>
          </p:cNvPr>
          <p:cNvSpPr txBox="1"/>
          <p:nvPr/>
        </p:nvSpPr>
        <p:spPr>
          <a:xfrm>
            <a:off x="2040795" y="1510887"/>
            <a:ext cx="4243341" cy="923330"/>
          </a:xfrm>
          <a:prstGeom prst="rect">
            <a:avLst/>
          </a:prstGeom>
          <a:noFill/>
          <a:ln w="19050">
            <a:solidFill>
              <a:schemeClr val="accent2"/>
            </a:solidFill>
          </a:ln>
        </p:spPr>
        <p:txBody>
          <a:bodyPr wrap="none" rtlCol="0">
            <a:spAutoFit/>
          </a:bodyPr>
          <a:lstStyle/>
          <a:p>
            <a:r>
              <a:rPr lang="en-US" dirty="0"/>
              <a:t>Kernel system call via </a:t>
            </a:r>
            <a:r>
              <a:rPr lang="en-US" dirty="0" err="1"/>
              <a:t>libc</a:t>
            </a:r>
            <a:r>
              <a:rPr lang="en-US" dirty="0"/>
              <a:t> (under-the-hood)</a:t>
            </a:r>
          </a:p>
          <a:p>
            <a:r>
              <a:rPr lang="en-US" dirty="0"/>
              <a:t>works with file descriptors</a:t>
            </a:r>
          </a:p>
          <a:p>
            <a:r>
              <a:rPr lang="en-US" dirty="0"/>
              <a:t>(</a:t>
            </a:r>
            <a:r>
              <a:rPr lang="en-US" b="1" dirty="0"/>
              <a:t>$ man select</a:t>
            </a:r>
            <a:r>
              <a:rPr lang="en-US" dirty="0"/>
              <a:t>)</a:t>
            </a:r>
          </a:p>
        </p:txBody>
      </p:sp>
      <p:sp>
        <p:nvSpPr>
          <p:cNvPr id="22" name="Rectangle 21">
            <a:extLst>
              <a:ext uri="{FF2B5EF4-FFF2-40B4-BE49-F238E27FC236}">
                <a16:creationId xmlns:a16="http://schemas.microsoft.com/office/drawing/2014/main" id="{588EBDD2-9952-A034-D840-8677E2DA9AE5}"/>
              </a:ext>
            </a:extLst>
          </p:cNvPr>
          <p:cNvSpPr/>
          <p:nvPr/>
        </p:nvSpPr>
        <p:spPr>
          <a:xfrm>
            <a:off x="486888" y="2897579"/>
            <a:ext cx="2101933" cy="220015"/>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CF645374-7AAB-03C0-1991-0F6EB9EC7345}"/>
              </a:ext>
            </a:extLst>
          </p:cNvPr>
          <p:cNvCxnSpPr>
            <a:stCxn id="22" idx="3"/>
            <a:endCxn id="21" idx="2"/>
          </p:cNvCxnSpPr>
          <p:nvPr/>
        </p:nvCxnSpPr>
        <p:spPr>
          <a:xfrm flipV="1">
            <a:off x="2588821" y="2434217"/>
            <a:ext cx="1573645" cy="57337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B48829C-523D-D1E7-8386-6C7477E1D287}"/>
              </a:ext>
            </a:extLst>
          </p:cNvPr>
          <p:cNvSpPr txBox="1"/>
          <p:nvPr/>
        </p:nvSpPr>
        <p:spPr>
          <a:xfrm>
            <a:off x="7930778" y="5015628"/>
            <a:ext cx="3108543" cy="400110"/>
          </a:xfrm>
          <a:prstGeom prst="rect">
            <a:avLst/>
          </a:prstGeom>
          <a:noFill/>
        </p:spPr>
        <p:txBody>
          <a:bodyPr wrap="none" rtlCol="0">
            <a:spAutoFit/>
          </a:bodyPr>
          <a:lstStyle/>
          <a:p>
            <a:r>
              <a:rPr lang="en-US" sz="1000" dirty="0"/>
              <a:t>(on a non—blocking socket the kernel would let B know </a:t>
            </a:r>
          </a:p>
          <a:p>
            <a:r>
              <a:rPr lang="en-US" sz="1000" dirty="0"/>
              <a:t>if socket not ready)</a:t>
            </a:r>
          </a:p>
        </p:txBody>
      </p:sp>
    </p:spTree>
    <p:extLst>
      <p:ext uri="{BB962C8B-B14F-4D97-AF65-F5344CB8AC3E}">
        <p14:creationId xmlns:p14="http://schemas.microsoft.com/office/powerpoint/2010/main" val="403009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3FC15-8A9C-CF0F-7D05-7925C5F721AB}"/>
              </a:ext>
            </a:extLst>
          </p:cNvPr>
          <p:cNvSpPr>
            <a:spLocks noGrp="1"/>
          </p:cNvSpPr>
          <p:nvPr>
            <p:ph type="title"/>
          </p:nvPr>
        </p:nvSpPr>
        <p:spPr/>
        <p:txBody>
          <a:bodyPr/>
          <a:lstStyle/>
          <a:p>
            <a:pPr algn="ctr"/>
            <a:r>
              <a:rPr lang="en-US" b="1" dirty="0"/>
              <a:t>Event–Based Concurrency with </a:t>
            </a:r>
            <a:r>
              <a:rPr lang="en-US" sz="3200" b="1" dirty="0">
                <a:latin typeface="Consolas" panose="020B0609020204030204" pitchFamily="49" charset="0"/>
                <a:cs typeface="Consolas" panose="020B0609020204030204" pitchFamily="49" charset="0"/>
              </a:rPr>
              <a:t>asyncio</a:t>
            </a:r>
          </a:p>
        </p:txBody>
      </p:sp>
      <p:pic>
        <p:nvPicPr>
          <p:cNvPr id="5" name="Content Placeholder 4" descr="A screenshot of a computer program&#10;&#10;AI-generated content may be incorrect.">
            <a:extLst>
              <a:ext uri="{FF2B5EF4-FFF2-40B4-BE49-F238E27FC236}">
                <a16:creationId xmlns:a16="http://schemas.microsoft.com/office/drawing/2014/main" id="{F1CCE683-7B2A-C5D9-DB1E-63F8F3811AE7}"/>
              </a:ext>
            </a:extLst>
          </p:cNvPr>
          <p:cNvPicPr>
            <a:picLocks noGrp="1" noChangeAspect="1"/>
          </p:cNvPicPr>
          <p:nvPr>
            <p:ph idx="1"/>
          </p:nvPr>
        </p:nvPicPr>
        <p:blipFill>
          <a:blip r:embed="rId3"/>
          <a:stretch>
            <a:fillRect/>
          </a:stretch>
        </p:blipFill>
        <p:spPr>
          <a:xfrm>
            <a:off x="280059" y="1478535"/>
            <a:ext cx="9627654" cy="4793430"/>
          </a:xfrm>
        </p:spPr>
      </p:pic>
      <p:sp>
        <p:nvSpPr>
          <p:cNvPr id="7" name="Rectangle 6">
            <a:extLst>
              <a:ext uri="{FF2B5EF4-FFF2-40B4-BE49-F238E27FC236}">
                <a16:creationId xmlns:a16="http://schemas.microsoft.com/office/drawing/2014/main" id="{FEDCFF00-6C51-82D6-7099-1CF0C16FC34B}"/>
              </a:ext>
            </a:extLst>
          </p:cNvPr>
          <p:cNvSpPr/>
          <p:nvPr/>
        </p:nvSpPr>
        <p:spPr>
          <a:xfrm>
            <a:off x="5153891" y="4203865"/>
            <a:ext cx="1803384" cy="332509"/>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7D94EA6-5A9B-1DFF-3A02-28E1131DBBEA}"/>
              </a:ext>
            </a:extLst>
          </p:cNvPr>
          <p:cNvSpPr txBox="1"/>
          <p:nvPr/>
        </p:nvSpPr>
        <p:spPr>
          <a:xfrm>
            <a:off x="8867314" y="4888629"/>
            <a:ext cx="2109167" cy="369332"/>
          </a:xfrm>
          <a:prstGeom prst="rect">
            <a:avLst/>
          </a:prstGeom>
          <a:solidFill>
            <a:schemeClr val="bg1"/>
          </a:solidFill>
          <a:ln>
            <a:solidFill>
              <a:schemeClr val="accent2"/>
            </a:solidFill>
          </a:ln>
        </p:spPr>
        <p:txBody>
          <a:bodyPr wrap="none" rtlCol="0">
            <a:spAutoFit/>
          </a:bodyPr>
          <a:lstStyle/>
          <a:p>
            <a:r>
              <a:rPr lang="en-US" dirty="0"/>
              <a:t>The main event loop</a:t>
            </a:r>
          </a:p>
        </p:txBody>
      </p:sp>
      <p:cxnSp>
        <p:nvCxnSpPr>
          <p:cNvPr id="10" name="Straight Connector 9">
            <a:extLst>
              <a:ext uri="{FF2B5EF4-FFF2-40B4-BE49-F238E27FC236}">
                <a16:creationId xmlns:a16="http://schemas.microsoft.com/office/drawing/2014/main" id="{5C1DBD57-F92F-191C-9640-0DB3E728536A}"/>
              </a:ext>
            </a:extLst>
          </p:cNvPr>
          <p:cNvCxnSpPr>
            <a:stCxn id="7" idx="3"/>
            <a:endCxn id="8" idx="1"/>
          </p:cNvCxnSpPr>
          <p:nvPr/>
        </p:nvCxnSpPr>
        <p:spPr>
          <a:xfrm>
            <a:off x="6957275" y="4370120"/>
            <a:ext cx="1910039" cy="70317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99671FB8-41B6-ED5B-A692-418EB7868BF4}"/>
              </a:ext>
            </a:extLst>
          </p:cNvPr>
          <p:cNvSpPr/>
          <p:nvPr/>
        </p:nvSpPr>
        <p:spPr>
          <a:xfrm>
            <a:off x="5510151" y="3752603"/>
            <a:ext cx="2351314" cy="356259"/>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F7E0E36-8F24-F90B-BC7A-F0D7D56CAB17}"/>
              </a:ext>
            </a:extLst>
          </p:cNvPr>
          <p:cNvSpPr txBox="1"/>
          <p:nvPr/>
        </p:nvSpPr>
        <p:spPr>
          <a:xfrm>
            <a:off x="9294134" y="3785696"/>
            <a:ext cx="2751117" cy="923330"/>
          </a:xfrm>
          <a:prstGeom prst="rect">
            <a:avLst/>
          </a:prstGeom>
          <a:solidFill>
            <a:schemeClr val="bg1"/>
          </a:solidFill>
          <a:ln>
            <a:solidFill>
              <a:schemeClr val="accent2"/>
            </a:solidFill>
          </a:ln>
        </p:spPr>
        <p:txBody>
          <a:bodyPr wrap="square" rtlCol="0">
            <a:spAutoFit/>
          </a:bodyPr>
          <a:lstStyle/>
          <a:p>
            <a:r>
              <a:rPr lang="en-GB" dirty="0"/>
              <a:t>Suspends while waiting for incoming connections (yields to event loop)</a:t>
            </a:r>
            <a:endParaRPr lang="en-US" dirty="0"/>
          </a:p>
        </p:txBody>
      </p:sp>
      <p:cxnSp>
        <p:nvCxnSpPr>
          <p:cNvPr id="14" name="Straight Connector 13">
            <a:extLst>
              <a:ext uri="{FF2B5EF4-FFF2-40B4-BE49-F238E27FC236}">
                <a16:creationId xmlns:a16="http://schemas.microsoft.com/office/drawing/2014/main" id="{B5DA7093-B5FA-1247-8B33-403AA6A9C6A8}"/>
              </a:ext>
            </a:extLst>
          </p:cNvPr>
          <p:cNvCxnSpPr>
            <a:stCxn id="11" idx="3"/>
            <a:endCxn id="12" idx="1"/>
          </p:cNvCxnSpPr>
          <p:nvPr/>
        </p:nvCxnSpPr>
        <p:spPr>
          <a:xfrm>
            <a:off x="7861465" y="3930733"/>
            <a:ext cx="1432669" cy="31662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64950E4-A71E-47B6-12B5-146371440699}"/>
              </a:ext>
            </a:extLst>
          </p:cNvPr>
          <p:cNvSpPr/>
          <p:nvPr/>
        </p:nvSpPr>
        <p:spPr>
          <a:xfrm>
            <a:off x="5510151" y="2636322"/>
            <a:ext cx="3067648" cy="653143"/>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AE18D0B-968A-1C39-8E12-9FD0335B59D8}"/>
              </a:ext>
            </a:extLst>
          </p:cNvPr>
          <p:cNvSpPr txBox="1"/>
          <p:nvPr/>
        </p:nvSpPr>
        <p:spPr>
          <a:xfrm>
            <a:off x="9071973" y="2072019"/>
            <a:ext cx="3067647" cy="923330"/>
          </a:xfrm>
          <a:prstGeom prst="rect">
            <a:avLst/>
          </a:prstGeom>
          <a:solidFill>
            <a:schemeClr val="bg1"/>
          </a:solidFill>
          <a:ln>
            <a:solidFill>
              <a:schemeClr val="accent2"/>
            </a:solidFill>
          </a:ln>
        </p:spPr>
        <p:txBody>
          <a:bodyPr wrap="square" rtlCol="0">
            <a:spAutoFit/>
          </a:bodyPr>
          <a:lstStyle/>
          <a:p>
            <a:r>
              <a:rPr lang="en-GB" dirty="0"/>
              <a:t>Creates a listening (welcome) socket and registers it with the event loop</a:t>
            </a:r>
            <a:endParaRPr lang="en-US" dirty="0"/>
          </a:p>
        </p:txBody>
      </p:sp>
      <p:cxnSp>
        <p:nvCxnSpPr>
          <p:cNvPr id="19" name="Straight Connector 18">
            <a:extLst>
              <a:ext uri="{FF2B5EF4-FFF2-40B4-BE49-F238E27FC236}">
                <a16:creationId xmlns:a16="http://schemas.microsoft.com/office/drawing/2014/main" id="{528A1FC8-097B-8B73-C194-E100276CAD23}"/>
              </a:ext>
            </a:extLst>
          </p:cNvPr>
          <p:cNvCxnSpPr>
            <a:cxnSpLocks/>
            <a:stCxn id="16" idx="3"/>
            <a:endCxn id="17" idx="1"/>
          </p:cNvCxnSpPr>
          <p:nvPr/>
        </p:nvCxnSpPr>
        <p:spPr>
          <a:xfrm flipV="1">
            <a:off x="8577799" y="2533684"/>
            <a:ext cx="494174" cy="42921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D484F65-10CF-6745-0CCC-6BA54252C540}"/>
              </a:ext>
            </a:extLst>
          </p:cNvPr>
          <p:cNvSpPr/>
          <p:nvPr/>
        </p:nvSpPr>
        <p:spPr>
          <a:xfrm>
            <a:off x="713173" y="3271651"/>
            <a:ext cx="2565071" cy="31469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AD987A8-6CB6-F180-0E90-FEBBB8F8D7C0}"/>
              </a:ext>
            </a:extLst>
          </p:cNvPr>
          <p:cNvSpPr txBox="1"/>
          <p:nvPr/>
        </p:nvSpPr>
        <p:spPr>
          <a:xfrm>
            <a:off x="3615750" y="4888629"/>
            <a:ext cx="2914705" cy="646331"/>
          </a:xfrm>
          <a:prstGeom prst="rect">
            <a:avLst/>
          </a:prstGeom>
          <a:solidFill>
            <a:schemeClr val="bg1"/>
          </a:solidFill>
          <a:ln>
            <a:solidFill>
              <a:schemeClr val="accent2"/>
            </a:solidFill>
          </a:ln>
        </p:spPr>
        <p:txBody>
          <a:bodyPr wrap="square" rtlCol="0">
            <a:spAutoFit/>
          </a:bodyPr>
          <a:lstStyle/>
          <a:p>
            <a:r>
              <a:rPr lang="en-GB" dirty="0"/>
              <a:t>Suspends if no data available (yields to event loop)</a:t>
            </a:r>
            <a:endParaRPr lang="en-US" dirty="0"/>
          </a:p>
        </p:txBody>
      </p:sp>
      <p:cxnSp>
        <p:nvCxnSpPr>
          <p:cNvPr id="24" name="Straight Connector 23">
            <a:extLst>
              <a:ext uri="{FF2B5EF4-FFF2-40B4-BE49-F238E27FC236}">
                <a16:creationId xmlns:a16="http://schemas.microsoft.com/office/drawing/2014/main" id="{907639CD-8737-D26E-9838-3215BFEF8349}"/>
              </a:ext>
            </a:extLst>
          </p:cNvPr>
          <p:cNvCxnSpPr>
            <a:cxnSpLocks/>
            <a:stCxn id="21" idx="3"/>
            <a:endCxn id="22" idx="0"/>
          </p:cNvCxnSpPr>
          <p:nvPr/>
        </p:nvCxnSpPr>
        <p:spPr>
          <a:xfrm>
            <a:off x="3278244" y="3429000"/>
            <a:ext cx="1794859" cy="1459629"/>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8ECA535-0DAA-DF7C-BD42-514894155276}"/>
              </a:ext>
            </a:extLst>
          </p:cNvPr>
          <p:cNvSpPr txBox="1"/>
          <p:nvPr/>
        </p:nvSpPr>
        <p:spPr>
          <a:xfrm>
            <a:off x="3615749" y="5964726"/>
            <a:ext cx="2751117" cy="646331"/>
          </a:xfrm>
          <a:prstGeom prst="rect">
            <a:avLst/>
          </a:prstGeom>
          <a:solidFill>
            <a:schemeClr val="bg1"/>
          </a:solidFill>
          <a:ln>
            <a:solidFill>
              <a:schemeClr val="accent2"/>
            </a:solidFill>
          </a:ln>
        </p:spPr>
        <p:txBody>
          <a:bodyPr wrap="square" rtlCol="0">
            <a:spAutoFit/>
          </a:bodyPr>
          <a:lstStyle/>
          <a:p>
            <a:r>
              <a:rPr lang="en-GB" dirty="0"/>
              <a:t>Suspends until send buffer has space.</a:t>
            </a:r>
            <a:endParaRPr lang="en-US" dirty="0"/>
          </a:p>
        </p:txBody>
      </p:sp>
      <p:sp>
        <p:nvSpPr>
          <p:cNvPr id="26" name="Rectangle 25">
            <a:extLst>
              <a:ext uri="{FF2B5EF4-FFF2-40B4-BE49-F238E27FC236}">
                <a16:creationId xmlns:a16="http://schemas.microsoft.com/office/drawing/2014/main" id="{17BE1B6E-4C62-B001-52B0-E91D03F6B001}"/>
              </a:ext>
            </a:extLst>
          </p:cNvPr>
          <p:cNvSpPr/>
          <p:nvPr/>
        </p:nvSpPr>
        <p:spPr>
          <a:xfrm>
            <a:off x="713173" y="5167311"/>
            <a:ext cx="1792521" cy="2359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894EC571-D856-792C-8F4E-831092199DC3}"/>
              </a:ext>
            </a:extLst>
          </p:cNvPr>
          <p:cNvCxnSpPr>
            <a:stCxn id="26" idx="3"/>
            <a:endCxn id="25" idx="1"/>
          </p:cNvCxnSpPr>
          <p:nvPr/>
        </p:nvCxnSpPr>
        <p:spPr>
          <a:xfrm>
            <a:off x="2505694" y="5285292"/>
            <a:ext cx="1110055" cy="10026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532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6" grpId="0" animBg="1"/>
      <p:bldP spid="17" grpId="0" animBg="1"/>
      <p:bldP spid="21" grpId="0" animBg="1"/>
      <p:bldP spid="22" grpId="0" animBg="1"/>
      <p:bldP spid="25" grpId="0" animBg="1"/>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390B6-01A8-56CA-BB82-EAD2B5BBE967}"/>
              </a:ext>
            </a:extLst>
          </p:cNvPr>
          <p:cNvSpPr>
            <a:spLocks noGrp="1"/>
          </p:cNvSpPr>
          <p:nvPr>
            <p:ph type="title"/>
          </p:nvPr>
        </p:nvSpPr>
        <p:spPr/>
        <p:txBody>
          <a:bodyPr>
            <a:normAutofit fontScale="90000"/>
          </a:bodyPr>
          <a:lstStyle/>
          <a:p>
            <a:pPr algn="ctr"/>
            <a:r>
              <a:rPr lang="en-US" sz="2700" b="1" dirty="0"/>
              <a:t>Client-Server Communication</a:t>
            </a:r>
            <a:br>
              <a:rPr lang="en-US" dirty="0"/>
            </a:br>
            <a:r>
              <a:rPr lang="en-US" b="1" dirty="0"/>
              <a:t>Event-Based Concurrency, Multithreading, Multiprocessing</a:t>
            </a:r>
          </a:p>
        </p:txBody>
      </p:sp>
      <p:sp>
        <p:nvSpPr>
          <p:cNvPr id="3" name="Content Placeholder 2">
            <a:extLst>
              <a:ext uri="{FF2B5EF4-FFF2-40B4-BE49-F238E27FC236}">
                <a16:creationId xmlns:a16="http://schemas.microsoft.com/office/drawing/2014/main" id="{ADA0B948-3EB1-3983-031C-F9A6562FCD26}"/>
              </a:ext>
            </a:extLst>
          </p:cNvPr>
          <p:cNvSpPr>
            <a:spLocks noGrp="1"/>
          </p:cNvSpPr>
          <p:nvPr>
            <p:ph idx="1"/>
          </p:nvPr>
        </p:nvSpPr>
        <p:spPr/>
        <p:txBody>
          <a:bodyPr>
            <a:normAutofit fontScale="55000" lnSpcReduction="20000"/>
          </a:bodyPr>
          <a:lstStyle/>
          <a:p>
            <a:r>
              <a:rPr lang="en-GB" dirty="0"/>
              <a:t>A real server would use some combination of </a:t>
            </a:r>
            <a:r>
              <a:rPr lang="en-GB" b="1" dirty="0"/>
              <a:t>event-based</a:t>
            </a:r>
            <a:r>
              <a:rPr lang="en-GB" dirty="0"/>
              <a:t> </a:t>
            </a:r>
            <a:r>
              <a:rPr lang="en-GB" b="1" dirty="0"/>
              <a:t>concurrency</a:t>
            </a:r>
            <a:r>
              <a:rPr lang="en-GB" dirty="0"/>
              <a:t>, </a:t>
            </a:r>
            <a:r>
              <a:rPr lang="en-GB" b="1" dirty="0"/>
              <a:t>multithreading</a:t>
            </a:r>
            <a:r>
              <a:rPr lang="en-GB" dirty="0"/>
              <a:t>, and </a:t>
            </a:r>
            <a:r>
              <a:rPr lang="en-GB" b="1" dirty="0"/>
              <a:t>multiprocessing</a:t>
            </a:r>
          </a:p>
          <a:p>
            <a:endParaRPr lang="en-GB" b="1" dirty="0"/>
          </a:p>
          <a:p>
            <a:r>
              <a:rPr lang="en-US" b="1" dirty="0"/>
              <a:t>Event-based concurrency (OS mechanisms: epoll, select, framework: asyncio)</a:t>
            </a:r>
          </a:p>
          <a:p>
            <a:pPr lvl="1"/>
            <a:r>
              <a:rPr lang="en-US" dirty="0"/>
              <a:t>handles many sockets efficiently</a:t>
            </a:r>
          </a:p>
          <a:p>
            <a:pPr lvl="1"/>
            <a:r>
              <a:rPr lang="en-US" b="1" dirty="0"/>
              <a:t>good for I/O bound applications</a:t>
            </a:r>
            <a:r>
              <a:rPr lang="en-US" dirty="0"/>
              <a:t>, such as a server  </a:t>
            </a:r>
          </a:p>
          <a:p>
            <a:pPr lvl="1"/>
            <a:r>
              <a:rPr lang="en-US" dirty="0"/>
              <a:t>avoids threading overhead</a:t>
            </a:r>
          </a:p>
          <a:p>
            <a:pPr lvl="1"/>
            <a:r>
              <a:rPr lang="en-US" dirty="0"/>
              <a:t>makes it </a:t>
            </a:r>
            <a:r>
              <a:rPr lang="en-US" b="1" dirty="0"/>
              <a:t>easier to avoid synchronization overhead</a:t>
            </a:r>
          </a:p>
          <a:p>
            <a:pPr lvl="1"/>
            <a:r>
              <a:rPr lang="en-US" dirty="0"/>
              <a:t>great for I/O-bound work</a:t>
            </a:r>
          </a:p>
          <a:p>
            <a:pPr lvl="1"/>
            <a:r>
              <a:rPr lang="en-US" dirty="0"/>
              <a:t>several web frameworks use it</a:t>
            </a:r>
          </a:p>
          <a:p>
            <a:endParaRPr lang="en-US" b="1" dirty="0"/>
          </a:p>
          <a:p>
            <a:r>
              <a:rPr lang="en-US" b="1" dirty="0"/>
              <a:t>Multithreading</a:t>
            </a:r>
          </a:p>
          <a:p>
            <a:pPr lvl="1"/>
            <a:r>
              <a:rPr lang="en-US" dirty="0"/>
              <a:t>overlaps blocking or CPU work</a:t>
            </a:r>
          </a:p>
          <a:p>
            <a:pPr lvl="1"/>
            <a:r>
              <a:rPr lang="en-US" dirty="0"/>
              <a:t>good for legacy/blocking libraries</a:t>
            </a:r>
          </a:p>
          <a:p>
            <a:pPr lvl="1"/>
            <a:r>
              <a:rPr lang="en-US" b="1" dirty="0"/>
              <a:t>used for background tasks</a:t>
            </a:r>
          </a:p>
          <a:p>
            <a:pPr marL="457200" lvl="1" indent="0">
              <a:buNone/>
            </a:pPr>
            <a:endParaRPr lang="en-US" dirty="0"/>
          </a:p>
          <a:p>
            <a:r>
              <a:rPr lang="en-US" b="1" dirty="0"/>
              <a:t>Multiprocessing</a:t>
            </a:r>
          </a:p>
          <a:p>
            <a:pPr lvl="1"/>
            <a:r>
              <a:rPr lang="en-US" dirty="0"/>
              <a:t>True parallelism, isolation, security </a:t>
            </a:r>
          </a:p>
          <a:p>
            <a:pPr lvl="1"/>
            <a:r>
              <a:rPr lang="en-US" dirty="0"/>
              <a:t>Scales well for </a:t>
            </a:r>
            <a:r>
              <a:rPr lang="en-US" b="1" dirty="0"/>
              <a:t>CPU-bound work</a:t>
            </a:r>
          </a:p>
        </p:txBody>
      </p:sp>
    </p:spTree>
    <p:extLst>
      <p:ext uri="{BB962C8B-B14F-4D97-AF65-F5344CB8AC3E}">
        <p14:creationId xmlns:p14="http://schemas.microsoft.com/office/powerpoint/2010/main" val="262267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C6F28-4DF1-385F-ED8B-C102EC5CD19B}"/>
              </a:ext>
            </a:extLst>
          </p:cNvPr>
          <p:cNvSpPr>
            <a:spLocks noGrp="1"/>
          </p:cNvSpPr>
          <p:nvPr>
            <p:ph type="title"/>
          </p:nvPr>
        </p:nvSpPr>
        <p:spPr/>
        <p:txBody>
          <a:bodyPr/>
          <a:lstStyle/>
          <a:p>
            <a:pPr algn="ctr"/>
            <a:r>
              <a:rPr lang="en-US" sz="2400" b="1" dirty="0"/>
              <a:t>Part II</a:t>
            </a:r>
            <a:br>
              <a:rPr lang="en-US" b="1" dirty="0"/>
            </a:br>
            <a:r>
              <a:rPr lang="en-US" b="1" dirty="0"/>
              <a:t>Database</a:t>
            </a:r>
          </a:p>
        </p:txBody>
      </p:sp>
      <p:sp>
        <p:nvSpPr>
          <p:cNvPr id="3" name="Content Placeholder 2">
            <a:extLst>
              <a:ext uri="{FF2B5EF4-FFF2-40B4-BE49-F238E27FC236}">
                <a16:creationId xmlns:a16="http://schemas.microsoft.com/office/drawing/2014/main" id="{91537929-76F7-0EA6-493E-A2C20AC2A6E0}"/>
              </a:ext>
            </a:extLst>
          </p:cNvPr>
          <p:cNvSpPr>
            <a:spLocks noGrp="1"/>
          </p:cNvSpPr>
          <p:nvPr>
            <p:ph idx="1"/>
          </p:nvPr>
        </p:nvSpPr>
        <p:spPr/>
        <p:txBody>
          <a:bodyPr>
            <a:normAutofit fontScale="92500" lnSpcReduction="20000"/>
          </a:bodyPr>
          <a:lstStyle/>
          <a:p>
            <a:r>
              <a:rPr lang="en-US" dirty="0"/>
              <a:t>A database is an organized collection of data</a:t>
            </a:r>
          </a:p>
          <a:p>
            <a:pPr lvl="1"/>
            <a:r>
              <a:rPr lang="en-US" dirty="0"/>
              <a:t> Structured so it can be efficiently searched, updated, and managed</a:t>
            </a:r>
          </a:p>
          <a:p>
            <a:pPr lvl="1"/>
            <a:endParaRPr lang="en-US" dirty="0"/>
          </a:p>
          <a:p>
            <a:r>
              <a:rPr lang="en-US" dirty="0"/>
              <a:t>A database is usually accessed through a Database Management System (DBMS)</a:t>
            </a:r>
          </a:p>
          <a:p>
            <a:pPr lvl="1"/>
            <a:r>
              <a:rPr lang="en-US" dirty="0"/>
              <a:t>e.g., </a:t>
            </a:r>
            <a:r>
              <a:rPr lang="en-GB" dirty="0"/>
              <a:t>SQLite, MySQL, PostgreSQL, DynamoDB (a DBMS provides a controlled interface between programs and stored data</a:t>
            </a:r>
          </a:p>
          <a:p>
            <a:pPr lvl="1"/>
            <a:endParaRPr lang="en-GB" dirty="0"/>
          </a:p>
          <a:p>
            <a:r>
              <a:rPr lang="en-GB" dirty="0"/>
              <a:t>Why not just files?</a:t>
            </a:r>
          </a:p>
          <a:p>
            <a:pPr lvl="1"/>
            <a:r>
              <a:rPr lang="en-GB" dirty="0"/>
              <a:t>Raw files (e.g. text, CSV, binary) require programs to manually handle reading, writing, parsing, and consistency.</a:t>
            </a:r>
          </a:p>
          <a:p>
            <a:pPr lvl="1"/>
            <a:r>
              <a:rPr lang="en-GB" dirty="0"/>
              <a:t>Databases store data in structured tables or collections and provide query-based access, handling storage, consistency, and access automatically.</a:t>
            </a:r>
          </a:p>
          <a:p>
            <a:pPr lvl="1"/>
            <a:endParaRPr lang="en-GB" dirty="0"/>
          </a:p>
        </p:txBody>
      </p:sp>
    </p:spTree>
    <p:extLst>
      <p:ext uri="{BB962C8B-B14F-4D97-AF65-F5344CB8AC3E}">
        <p14:creationId xmlns:p14="http://schemas.microsoft.com/office/powerpoint/2010/main" val="1483518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8C77C-FFBF-4446-AE08-A227F249B4EA}"/>
              </a:ext>
            </a:extLst>
          </p:cNvPr>
          <p:cNvSpPr>
            <a:spLocks noGrp="1"/>
          </p:cNvSpPr>
          <p:nvPr>
            <p:ph type="title"/>
          </p:nvPr>
        </p:nvSpPr>
        <p:spPr/>
        <p:txBody>
          <a:bodyPr/>
          <a:lstStyle/>
          <a:p>
            <a:pPr algn="ctr"/>
            <a:r>
              <a:rPr lang="en-US" b="1" dirty="0"/>
              <a:t>Database Options</a:t>
            </a:r>
          </a:p>
        </p:txBody>
      </p:sp>
      <p:sp>
        <p:nvSpPr>
          <p:cNvPr id="3" name="Content Placeholder 2">
            <a:extLst>
              <a:ext uri="{FF2B5EF4-FFF2-40B4-BE49-F238E27FC236}">
                <a16:creationId xmlns:a16="http://schemas.microsoft.com/office/drawing/2014/main" id="{8298A35A-B588-4A2F-A01B-B3EBA31369AD}"/>
              </a:ext>
            </a:extLst>
          </p:cNvPr>
          <p:cNvSpPr>
            <a:spLocks noGrp="1"/>
          </p:cNvSpPr>
          <p:nvPr>
            <p:ph idx="1"/>
          </p:nvPr>
        </p:nvSpPr>
        <p:spPr>
          <a:xfrm>
            <a:off x="622300" y="1838325"/>
            <a:ext cx="10515600" cy="4351338"/>
          </a:xfrm>
        </p:spPr>
        <p:txBody>
          <a:bodyPr>
            <a:normAutofit fontScale="85000" lnSpcReduction="20000"/>
          </a:bodyPr>
          <a:lstStyle/>
          <a:p>
            <a:pPr marL="0" indent="0">
              <a:buNone/>
            </a:pPr>
            <a:r>
              <a:rPr lang="en-US" b="1" dirty="0"/>
              <a:t>1. SQL databases </a:t>
            </a:r>
            <a:r>
              <a:rPr lang="en-US" dirty="0"/>
              <a:t>(covered next week)</a:t>
            </a:r>
          </a:p>
          <a:p>
            <a:pPr marL="514350" indent="-514350">
              <a:buAutoNum type="arabicPeriod"/>
            </a:pPr>
            <a:endParaRPr lang="en-US" dirty="0"/>
          </a:p>
          <a:p>
            <a:pPr lvl="1"/>
            <a:r>
              <a:rPr lang="en-US" dirty="0"/>
              <a:t>Well defined </a:t>
            </a:r>
            <a:r>
              <a:rPr lang="en-US" b="1" dirty="0"/>
              <a:t>schema </a:t>
            </a:r>
          </a:p>
          <a:p>
            <a:pPr lvl="2"/>
            <a:r>
              <a:rPr lang="en-US" dirty="0"/>
              <a:t>the database is modeled as a set of joinable tables with pre-defined columns</a:t>
            </a:r>
          </a:p>
          <a:p>
            <a:pPr lvl="1"/>
            <a:r>
              <a:rPr lang="en-US" dirty="0"/>
              <a:t>Entities are stored in tables, </a:t>
            </a:r>
            <a:r>
              <a:rPr lang="en-US" b="1" dirty="0"/>
              <a:t>managed by an RDBMS</a:t>
            </a:r>
          </a:p>
          <a:p>
            <a:pPr lvl="1"/>
            <a:r>
              <a:rPr lang="en-US" b="1" dirty="0"/>
              <a:t>Tables can be joined </a:t>
            </a:r>
            <a:r>
              <a:rPr lang="en-US" dirty="0"/>
              <a:t>and using a powerful and flexible querying language: </a:t>
            </a:r>
            <a:r>
              <a:rPr lang="en-US" b="1" dirty="0"/>
              <a:t>SQL</a:t>
            </a:r>
          </a:p>
          <a:p>
            <a:pPr lvl="1"/>
            <a:r>
              <a:rPr lang="en-US" dirty="0"/>
              <a:t>Data follows are </a:t>
            </a:r>
            <a:r>
              <a:rPr lang="en-US" b="1" dirty="0"/>
              <a:t>rigid structure </a:t>
            </a:r>
            <a:r>
              <a:rPr lang="en-US" dirty="0"/>
              <a:t>and is mostly non-redundant</a:t>
            </a:r>
          </a:p>
          <a:p>
            <a:pPr lvl="1"/>
            <a:r>
              <a:rPr lang="en-US" dirty="0"/>
              <a:t>Changing/updating the structure of data involves change in schema and </a:t>
            </a:r>
            <a:r>
              <a:rPr lang="en-US" b="1" dirty="0"/>
              <a:t>costly database alterations</a:t>
            </a:r>
            <a:r>
              <a:rPr lang="en-US" dirty="0"/>
              <a:t>.</a:t>
            </a:r>
          </a:p>
          <a:p>
            <a:pPr lvl="1"/>
            <a:r>
              <a:rPr lang="en-US" dirty="0"/>
              <a:t>There is a DBA – a database administrator -- between the application developer and the database, responsible for defining and altering the schema if needed.</a:t>
            </a:r>
          </a:p>
          <a:p>
            <a:pPr lvl="2"/>
            <a:r>
              <a:rPr lang="en-US" b="1" dirty="0"/>
              <a:t>Using SQL’s DDL</a:t>
            </a:r>
          </a:p>
          <a:p>
            <a:pPr lvl="2"/>
            <a:endParaRPr lang="en-US" b="1" dirty="0"/>
          </a:p>
          <a:p>
            <a:r>
              <a:rPr lang="en-US" b="1" dirty="0"/>
              <a:t>Naturally ideal for vertical scaling, i.e., </a:t>
            </a:r>
            <a:r>
              <a:rPr lang="en-GB" dirty="0"/>
              <a:t>increasing the database’s capacity by adding more resources (CPU, memory, storage) to a single machine.</a:t>
            </a:r>
            <a:r>
              <a:rPr lang="en-US" b="1" dirty="0"/>
              <a:t> </a:t>
            </a:r>
          </a:p>
        </p:txBody>
      </p:sp>
    </p:spTree>
    <p:extLst>
      <p:ext uri="{BB962C8B-B14F-4D97-AF65-F5344CB8AC3E}">
        <p14:creationId xmlns:p14="http://schemas.microsoft.com/office/powerpoint/2010/main" val="990426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1E5EE-07DE-42FE-9045-F0F12347BDCC}"/>
              </a:ext>
            </a:extLst>
          </p:cNvPr>
          <p:cNvSpPr>
            <a:spLocks noGrp="1"/>
          </p:cNvSpPr>
          <p:nvPr>
            <p:ph type="title"/>
          </p:nvPr>
        </p:nvSpPr>
        <p:spPr/>
        <p:txBody>
          <a:bodyPr/>
          <a:lstStyle/>
          <a:p>
            <a:pPr algn="ctr"/>
            <a:r>
              <a:rPr lang="en-US" b="1" dirty="0"/>
              <a:t>Database Options</a:t>
            </a:r>
            <a:endParaRPr lang="en-US" dirty="0"/>
          </a:p>
        </p:txBody>
      </p:sp>
      <p:sp>
        <p:nvSpPr>
          <p:cNvPr id="3" name="Content Placeholder 2">
            <a:extLst>
              <a:ext uri="{FF2B5EF4-FFF2-40B4-BE49-F238E27FC236}">
                <a16:creationId xmlns:a16="http://schemas.microsoft.com/office/drawing/2014/main" id="{F014C9CE-AF0C-45FE-AEF9-45BD6FEF4EF6}"/>
              </a:ext>
            </a:extLst>
          </p:cNvPr>
          <p:cNvSpPr>
            <a:spLocks noGrp="1"/>
          </p:cNvSpPr>
          <p:nvPr>
            <p:ph idx="1"/>
          </p:nvPr>
        </p:nvSpPr>
        <p:spPr>
          <a:xfrm>
            <a:off x="558800" y="1825625"/>
            <a:ext cx="10795000" cy="4351338"/>
          </a:xfrm>
        </p:spPr>
        <p:txBody>
          <a:bodyPr>
            <a:normAutofit fontScale="92500" lnSpcReduction="10000"/>
          </a:bodyPr>
          <a:lstStyle/>
          <a:p>
            <a:pPr marL="0" indent="0">
              <a:buNone/>
            </a:pPr>
            <a:r>
              <a:rPr lang="en-US" dirty="0"/>
              <a:t>2. </a:t>
            </a:r>
            <a:r>
              <a:rPr lang="en-US" b="1" dirty="0"/>
              <a:t>NoSQL databases</a:t>
            </a:r>
          </a:p>
          <a:p>
            <a:pPr marL="0" indent="0">
              <a:buNone/>
            </a:pPr>
            <a:endParaRPr lang="en-US" b="1" dirty="0"/>
          </a:p>
          <a:p>
            <a:pPr lvl="1"/>
            <a:r>
              <a:rPr lang="en-US" dirty="0"/>
              <a:t>Data is not stored in relations (although the tabular form exists)</a:t>
            </a:r>
          </a:p>
          <a:p>
            <a:pPr lvl="1"/>
            <a:r>
              <a:rPr lang="en-US" dirty="0"/>
              <a:t>There </a:t>
            </a:r>
            <a:r>
              <a:rPr lang="en-US" b="1" dirty="0"/>
              <a:t>is no predefined schema </a:t>
            </a:r>
            <a:r>
              <a:rPr lang="en-US" dirty="0"/>
              <a:t>(a flexible schema is maintained)</a:t>
            </a:r>
          </a:p>
          <a:p>
            <a:pPr lvl="2"/>
            <a:r>
              <a:rPr lang="en-US" dirty="0"/>
              <a:t>Data is not highly structured: unstructured or semi-structured data may be stored.</a:t>
            </a:r>
          </a:p>
          <a:p>
            <a:pPr lvl="1"/>
            <a:r>
              <a:rPr lang="en-US" dirty="0"/>
              <a:t>Flexibility of schema speeds up development, as the developer has direct control over the structure of the database: “</a:t>
            </a:r>
            <a:r>
              <a:rPr lang="en-US" b="1" i="1" dirty="0"/>
              <a:t>data becomes like code”</a:t>
            </a:r>
            <a:r>
              <a:rPr lang="en-US" dirty="0"/>
              <a:t>.</a:t>
            </a:r>
          </a:p>
          <a:p>
            <a:pPr lvl="1"/>
            <a:r>
              <a:rPr lang="en-US" dirty="0"/>
              <a:t>NoSQL databases could be: document stores, key-value stores, column stores or graph-base.</a:t>
            </a:r>
          </a:p>
          <a:p>
            <a:pPr lvl="2"/>
            <a:r>
              <a:rPr lang="en-US" dirty="0"/>
              <a:t>DynamoDB is a key-value store – meaning, they use hashing as their principal storage strategy.</a:t>
            </a:r>
          </a:p>
          <a:p>
            <a:pPr lvl="2"/>
            <a:endParaRPr lang="en-US" dirty="0"/>
          </a:p>
          <a:p>
            <a:pPr lvl="1"/>
            <a:r>
              <a:rPr lang="en-US" b="1" dirty="0"/>
              <a:t>Naturally ideal for horizontal scaling</a:t>
            </a:r>
            <a:r>
              <a:rPr lang="en-US" dirty="0"/>
              <a:t>, i.e., </a:t>
            </a:r>
            <a:r>
              <a:rPr lang="en-GB" dirty="0"/>
              <a:t>increasing the database’s capacity by adding more machines and distributing data across them.</a:t>
            </a:r>
            <a:endParaRPr lang="en-US" dirty="0"/>
          </a:p>
        </p:txBody>
      </p:sp>
    </p:spTree>
    <p:extLst>
      <p:ext uri="{BB962C8B-B14F-4D97-AF65-F5344CB8AC3E}">
        <p14:creationId xmlns:p14="http://schemas.microsoft.com/office/powerpoint/2010/main" val="905935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1835700" y="593367"/>
            <a:ext cx="8520600" cy="763600"/>
          </a:xfrm>
          <a:prstGeom prst="rect">
            <a:avLst/>
          </a:prstGeom>
        </p:spPr>
        <p:txBody>
          <a:bodyPr spcFirstLastPara="1" vert="horz" wrap="square" lIns="91425" tIns="91425" rIns="91425" bIns="91425" rtlCol="0" anchor="t" anchorCtr="0">
            <a:noAutofit/>
          </a:bodyPr>
          <a:lstStyle/>
          <a:p>
            <a:pPr algn="ctr"/>
            <a:r>
              <a:rPr lang="en" b="1" dirty="0"/>
              <a:t>Horizontal Scaling of Databases</a:t>
            </a:r>
            <a:endParaRPr b="1" dirty="0"/>
          </a:p>
        </p:txBody>
      </p:sp>
      <p:sp>
        <p:nvSpPr>
          <p:cNvPr id="102" name="Google Shape;102;p20"/>
          <p:cNvSpPr txBox="1">
            <a:spLocks noGrp="1"/>
          </p:cNvSpPr>
          <p:nvPr>
            <p:ph type="body" idx="1"/>
          </p:nvPr>
        </p:nvSpPr>
        <p:spPr>
          <a:xfrm>
            <a:off x="869950" y="1549333"/>
            <a:ext cx="10452100" cy="4559367"/>
          </a:xfrm>
          <a:prstGeom prst="rect">
            <a:avLst/>
          </a:prstGeom>
        </p:spPr>
        <p:txBody>
          <a:bodyPr spcFirstLastPara="1" vert="horz" wrap="square" lIns="91425" tIns="91425" rIns="91425" bIns="91425" rtlCol="0" anchor="t" anchorCtr="0">
            <a:normAutofit fontScale="92500" lnSpcReduction="10000"/>
          </a:bodyPr>
          <a:lstStyle/>
          <a:p>
            <a:r>
              <a:rPr lang="en" dirty="0"/>
              <a:t>Data needs to be </a:t>
            </a:r>
            <a:r>
              <a:rPr lang="en" b="1" dirty="0"/>
              <a:t>divided and distributed across multiple partitions</a:t>
            </a:r>
          </a:p>
          <a:p>
            <a:endParaRPr lang="en" dirty="0"/>
          </a:p>
          <a:p>
            <a:r>
              <a:rPr lang="en" dirty="0"/>
              <a:t>A par</a:t>
            </a:r>
            <a:r>
              <a:rPr lang="en-GB" dirty="0"/>
              <a:t>t</a:t>
            </a:r>
            <a:r>
              <a:rPr lang="en" dirty="0" err="1"/>
              <a:t>ition</a:t>
            </a:r>
            <a:r>
              <a:rPr lang="en" dirty="0"/>
              <a:t> is a logical single chunk of storage managed by the cloud service provider</a:t>
            </a:r>
          </a:p>
          <a:p>
            <a:endParaRPr dirty="0"/>
          </a:p>
          <a:p>
            <a:r>
              <a:rPr lang="en" dirty="0"/>
              <a:t>When queried for data, the system needs to know which partition stores what part of the data.</a:t>
            </a:r>
          </a:p>
          <a:p>
            <a:endParaRPr lang="en" dirty="0"/>
          </a:p>
          <a:p>
            <a:r>
              <a:rPr lang="en" dirty="0"/>
              <a:t>The system should be able to:</a:t>
            </a:r>
          </a:p>
          <a:p>
            <a:pPr lvl="1"/>
            <a:r>
              <a:rPr lang="en" b="1" dirty="0"/>
              <a:t>map each individual record to a par</a:t>
            </a:r>
            <a:r>
              <a:rPr lang="en-GB" b="1" dirty="0"/>
              <a:t>t</a:t>
            </a:r>
            <a:r>
              <a:rPr lang="en" b="1" dirty="0" err="1"/>
              <a:t>ition</a:t>
            </a:r>
            <a:endParaRPr lang="en" dirty="0"/>
          </a:p>
          <a:p>
            <a:pPr lvl="1"/>
            <a:r>
              <a:rPr lang="en" b="1" dirty="0"/>
              <a:t>search for records in a data structure </a:t>
            </a:r>
            <a:r>
              <a:rPr lang="en" dirty="0"/>
              <a:t>within that partition </a:t>
            </a:r>
          </a:p>
          <a:p>
            <a:pPr lvl="1"/>
            <a:endParaRPr lang="en" dirty="0"/>
          </a:p>
          <a:p>
            <a:r>
              <a:rPr lang="en" dirty="0"/>
              <a:t>This is the operation of a typical NoSQL database called a Key-Value Store</a:t>
            </a:r>
          </a:p>
        </p:txBody>
      </p:sp>
    </p:spTree>
    <p:extLst>
      <p:ext uri="{BB962C8B-B14F-4D97-AF65-F5344CB8AC3E}">
        <p14:creationId xmlns:p14="http://schemas.microsoft.com/office/powerpoint/2010/main" val="4114935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F02F7-7057-1E45-C87C-9AF6A6A7179A}"/>
              </a:ext>
            </a:extLst>
          </p:cNvPr>
          <p:cNvSpPr>
            <a:spLocks noGrp="1"/>
          </p:cNvSpPr>
          <p:nvPr>
            <p:ph type="title"/>
          </p:nvPr>
        </p:nvSpPr>
        <p:spPr/>
        <p:txBody>
          <a:bodyPr/>
          <a:lstStyle/>
          <a:p>
            <a:pPr algn="ctr"/>
            <a:r>
              <a:rPr lang="en-US" sz="2400" b="1" dirty="0"/>
              <a:t>DynamoDB: </a:t>
            </a:r>
            <a:br>
              <a:rPr lang="en-US" b="1" dirty="0"/>
            </a:br>
            <a:r>
              <a:rPr lang="en-US" b="1" dirty="0"/>
              <a:t>An Example of a NoSQL Key-Value Store</a:t>
            </a:r>
          </a:p>
        </p:txBody>
      </p:sp>
      <p:sp>
        <p:nvSpPr>
          <p:cNvPr id="3" name="Content Placeholder 2">
            <a:extLst>
              <a:ext uri="{FF2B5EF4-FFF2-40B4-BE49-F238E27FC236}">
                <a16:creationId xmlns:a16="http://schemas.microsoft.com/office/drawing/2014/main" id="{A82487C0-14FD-6119-1B6B-5C7D4EC27E08}"/>
              </a:ext>
            </a:extLst>
          </p:cNvPr>
          <p:cNvSpPr>
            <a:spLocks noGrp="1"/>
          </p:cNvSpPr>
          <p:nvPr>
            <p:ph idx="1"/>
          </p:nvPr>
        </p:nvSpPr>
        <p:spPr>
          <a:xfrm>
            <a:off x="919955" y="2141537"/>
            <a:ext cx="7023100" cy="4351338"/>
          </a:xfrm>
        </p:spPr>
        <p:txBody>
          <a:bodyPr/>
          <a:lstStyle/>
          <a:p>
            <a:pPr indent="-250745">
              <a:buSzPct val="100000"/>
            </a:pPr>
            <a:r>
              <a:rPr lang="en-GB" dirty="0"/>
              <a:t>A simple type of NoSQL database</a:t>
            </a:r>
          </a:p>
          <a:p>
            <a:pPr indent="-250745">
              <a:buSzPct val="100000"/>
            </a:pPr>
            <a:endParaRPr lang="en-GB" dirty="0">
              <a:solidFill>
                <a:srgbClr val="202124"/>
              </a:solidFill>
              <a:highlight>
                <a:srgbClr val="FFFFFF"/>
              </a:highlight>
            </a:endParaRPr>
          </a:p>
          <a:p>
            <a:pPr indent="-250745">
              <a:buSzPct val="100000"/>
            </a:pPr>
            <a:r>
              <a:rPr lang="en-GB" dirty="0">
                <a:solidFill>
                  <a:srgbClr val="202124"/>
                </a:solidFill>
                <a:highlight>
                  <a:srgbClr val="FFFFFF"/>
                </a:highlight>
              </a:rPr>
              <a:t>Stores data </a:t>
            </a:r>
            <a:r>
              <a:rPr lang="en-GB" b="1" dirty="0">
                <a:solidFill>
                  <a:srgbClr val="202124"/>
                </a:solidFill>
                <a:highlight>
                  <a:srgbClr val="FFFFFF"/>
                </a:highlight>
              </a:rPr>
              <a:t>as a collection of key-value pairs</a:t>
            </a:r>
          </a:p>
          <a:p>
            <a:pPr lvl="1" indent="-250745">
              <a:buSzPct val="100000"/>
            </a:pPr>
            <a:r>
              <a:rPr lang="en-GB" dirty="0">
                <a:solidFill>
                  <a:srgbClr val="202124"/>
                </a:solidFill>
                <a:highlight>
                  <a:srgbClr val="FFFFFF"/>
                </a:highlight>
              </a:rPr>
              <a:t>key serves as a unique identifier for the record.</a:t>
            </a:r>
          </a:p>
          <a:p>
            <a:pPr indent="-250745">
              <a:buSzPct val="100000"/>
            </a:pPr>
            <a:endParaRPr lang="en-GB" dirty="0"/>
          </a:p>
          <a:p>
            <a:pPr indent="-250745">
              <a:buSzPct val="100000"/>
            </a:pPr>
            <a:r>
              <a:rPr lang="en-GB" dirty="0">
                <a:solidFill>
                  <a:srgbClr val="333333"/>
                </a:solidFill>
              </a:rPr>
              <a:t>Highly partitionable, allows horizontal scaling</a:t>
            </a:r>
            <a:endParaRPr lang="en-US" dirty="0"/>
          </a:p>
        </p:txBody>
      </p:sp>
      <p:pic>
        <p:nvPicPr>
          <p:cNvPr id="4" name="Google Shape;162;p29">
            <a:extLst>
              <a:ext uri="{FF2B5EF4-FFF2-40B4-BE49-F238E27FC236}">
                <a16:creationId xmlns:a16="http://schemas.microsoft.com/office/drawing/2014/main" id="{24FF7D69-DE76-082B-F4CE-750752D42556}"/>
              </a:ext>
            </a:extLst>
          </p:cNvPr>
          <p:cNvPicPr preferRelativeResize="0"/>
          <p:nvPr/>
        </p:nvPicPr>
        <p:blipFill>
          <a:blip r:embed="rId3">
            <a:alphaModFix/>
          </a:blip>
          <a:stretch>
            <a:fillRect/>
          </a:stretch>
        </p:blipFill>
        <p:spPr>
          <a:xfrm>
            <a:off x="7861300" y="2413085"/>
            <a:ext cx="3410745" cy="1919037"/>
          </a:xfrm>
          <a:prstGeom prst="rect">
            <a:avLst/>
          </a:prstGeom>
          <a:noFill/>
          <a:ln>
            <a:noFill/>
          </a:ln>
        </p:spPr>
      </p:pic>
      <p:sp>
        <p:nvSpPr>
          <p:cNvPr id="5" name="TextBox 4">
            <a:extLst>
              <a:ext uri="{FF2B5EF4-FFF2-40B4-BE49-F238E27FC236}">
                <a16:creationId xmlns:a16="http://schemas.microsoft.com/office/drawing/2014/main" id="{33F6A53E-9A74-FC5F-3735-C64AE5694640}"/>
              </a:ext>
            </a:extLst>
          </p:cNvPr>
          <p:cNvSpPr txBox="1"/>
          <p:nvPr/>
        </p:nvSpPr>
        <p:spPr>
          <a:xfrm>
            <a:off x="8220318" y="4444915"/>
            <a:ext cx="3146182" cy="369332"/>
          </a:xfrm>
          <a:prstGeom prst="rect">
            <a:avLst/>
          </a:prstGeom>
          <a:noFill/>
        </p:spPr>
        <p:txBody>
          <a:bodyPr wrap="none" rtlCol="0">
            <a:spAutoFit/>
          </a:bodyPr>
          <a:lstStyle/>
          <a:p>
            <a:r>
              <a:rPr lang="en-US" dirty="0"/>
              <a:t>An example table in DynamoDB</a:t>
            </a:r>
          </a:p>
        </p:txBody>
      </p:sp>
    </p:spTree>
    <p:extLst>
      <p:ext uri="{BB962C8B-B14F-4D97-AF65-F5344CB8AC3E}">
        <p14:creationId xmlns:p14="http://schemas.microsoft.com/office/powerpoint/2010/main" val="692102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1844-B563-0AC2-43A1-0CB9D0BCD83F}"/>
              </a:ext>
            </a:extLst>
          </p:cNvPr>
          <p:cNvSpPr>
            <a:spLocks noGrp="1"/>
          </p:cNvSpPr>
          <p:nvPr>
            <p:ph type="title"/>
          </p:nvPr>
        </p:nvSpPr>
        <p:spPr>
          <a:xfrm>
            <a:off x="577850" y="276225"/>
            <a:ext cx="10883900" cy="1325563"/>
          </a:xfrm>
        </p:spPr>
        <p:txBody>
          <a:bodyPr/>
          <a:lstStyle/>
          <a:p>
            <a:pPr algn="ctr"/>
            <a:r>
              <a:rPr lang="en-US" b="1" dirty="0"/>
              <a:t>Amazon’s DynamoDB, a key-value store</a:t>
            </a:r>
          </a:p>
        </p:txBody>
      </p:sp>
      <p:sp>
        <p:nvSpPr>
          <p:cNvPr id="3" name="Content Placeholder 2">
            <a:extLst>
              <a:ext uri="{FF2B5EF4-FFF2-40B4-BE49-F238E27FC236}">
                <a16:creationId xmlns:a16="http://schemas.microsoft.com/office/drawing/2014/main" id="{29874FA7-907C-7703-92F9-68E5DEF4E1F8}"/>
              </a:ext>
            </a:extLst>
          </p:cNvPr>
          <p:cNvSpPr>
            <a:spLocks noGrp="1"/>
          </p:cNvSpPr>
          <p:nvPr>
            <p:ph sz="half" idx="1"/>
          </p:nvPr>
        </p:nvSpPr>
        <p:spPr/>
        <p:txBody>
          <a:bodyPr>
            <a:normAutofit fontScale="92500" lnSpcReduction="20000"/>
          </a:bodyPr>
          <a:lstStyle/>
          <a:p>
            <a:r>
              <a:rPr lang="en-US" dirty="0"/>
              <a:t>Every ‘row’ in a ‘table’ is defined by a composite primary key:</a:t>
            </a:r>
          </a:p>
          <a:p>
            <a:pPr marL="457200" lvl="1" indent="0">
              <a:buNone/>
            </a:pPr>
            <a:r>
              <a:rPr lang="en-US" dirty="0"/>
              <a:t>Primary key = (Partition key, Sort Key)</a:t>
            </a:r>
          </a:p>
          <a:p>
            <a:pPr marL="0" indent="0">
              <a:buNone/>
            </a:pPr>
            <a:endParaRPr lang="en-US" dirty="0"/>
          </a:p>
          <a:p>
            <a:r>
              <a:rPr lang="en-US" dirty="0"/>
              <a:t>A record with key (pk, </a:t>
            </a:r>
            <a:r>
              <a:rPr lang="en-US" dirty="0" err="1"/>
              <a:t>sk</a:t>
            </a:r>
            <a:r>
              <a:rPr lang="en-US" dirty="0"/>
              <a:t>), is assigned the partition </a:t>
            </a:r>
            <a:r>
              <a:rPr lang="en-US" i="1" dirty="0"/>
              <a:t>h</a:t>
            </a:r>
            <a:r>
              <a:rPr lang="en-US" dirty="0"/>
              <a:t>(pk), and sorted at </a:t>
            </a:r>
            <a:r>
              <a:rPr lang="en-US" i="1" dirty="0"/>
              <a:t>s</a:t>
            </a:r>
            <a:r>
              <a:rPr lang="en-US" dirty="0"/>
              <a:t>(</a:t>
            </a:r>
            <a:r>
              <a:rPr lang="en-US" dirty="0" err="1"/>
              <a:t>sk</a:t>
            </a:r>
            <a:r>
              <a:rPr lang="en-US" dirty="0"/>
              <a:t>), within that partition.</a:t>
            </a:r>
          </a:p>
          <a:p>
            <a:pPr lvl="1"/>
            <a:r>
              <a:rPr lang="en-US" i="1" dirty="0"/>
              <a:t>h </a:t>
            </a:r>
            <a:r>
              <a:rPr lang="en-US" dirty="0"/>
              <a:t>is an internally maintained hash functi</a:t>
            </a:r>
            <a:r>
              <a:rPr lang="en-US" u="sng" dirty="0"/>
              <a:t>on.</a:t>
            </a:r>
            <a:r>
              <a:rPr lang="en-US" i="1" dirty="0"/>
              <a:t> </a:t>
            </a:r>
            <a:r>
              <a:rPr lang="en-US" dirty="0"/>
              <a:t>  </a:t>
            </a:r>
          </a:p>
          <a:p>
            <a:pPr lvl="1"/>
            <a:r>
              <a:rPr lang="en-US" i="1" dirty="0"/>
              <a:t>s </a:t>
            </a:r>
            <a:r>
              <a:rPr lang="en-US" dirty="0"/>
              <a:t>is an ordering function of an ordered data structure such as a height-balanced tree</a:t>
            </a:r>
            <a:r>
              <a:rPr lang="en-US" i="1" dirty="0"/>
              <a:t> </a:t>
            </a:r>
          </a:p>
        </p:txBody>
      </p:sp>
      <p:pic>
        <p:nvPicPr>
          <p:cNvPr id="5" name="Google Shape;162;p29">
            <a:extLst>
              <a:ext uri="{FF2B5EF4-FFF2-40B4-BE49-F238E27FC236}">
                <a16:creationId xmlns:a16="http://schemas.microsoft.com/office/drawing/2014/main" id="{B1FCE444-6671-B1DF-201B-A3966D1EFB54}"/>
              </a:ext>
            </a:extLst>
          </p:cNvPr>
          <p:cNvPicPr preferRelativeResize="0">
            <a:picLocks noGrp="1"/>
          </p:cNvPicPr>
          <p:nvPr>
            <p:ph sz="half" idx="2"/>
          </p:nvPr>
        </p:nvPicPr>
        <p:blipFill>
          <a:blip r:embed="rId3">
            <a:alphaModFix/>
          </a:blip>
          <a:stretch>
            <a:fillRect/>
          </a:stretch>
        </p:blipFill>
        <p:spPr>
          <a:xfrm>
            <a:off x="6178550" y="2432844"/>
            <a:ext cx="5168900" cy="3136900"/>
          </a:xfrm>
          <a:prstGeom prst="rect">
            <a:avLst/>
          </a:prstGeom>
          <a:noFill/>
          <a:ln>
            <a:noFill/>
          </a:ln>
        </p:spPr>
      </p:pic>
      <p:sp>
        <p:nvSpPr>
          <p:cNvPr id="6" name="TextBox 5">
            <a:extLst>
              <a:ext uri="{FF2B5EF4-FFF2-40B4-BE49-F238E27FC236}">
                <a16:creationId xmlns:a16="http://schemas.microsoft.com/office/drawing/2014/main" id="{9D6281A4-89D3-30E4-A7D7-3071D86960B0}"/>
              </a:ext>
            </a:extLst>
          </p:cNvPr>
          <p:cNvSpPr txBox="1"/>
          <p:nvPr/>
        </p:nvSpPr>
        <p:spPr>
          <a:xfrm>
            <a:off x="152400" y="6165632"/>
            <a:ext cx="10719025" cy="646331"/>
          </a:xfrm>
          <a:prstGeom prst="rect">
            <a:avLst/>
          </a:prstGeom>
          <a:noFill/>
        </p:spPr>
        <p:txBody>
          <a:bodyPr wrap="none" rtlCol="0">
            <a:spAutoFit/>
          </a:bodyPr>
          <a:lstStyle/>
          <a:p>
            <a:r>
              <a:rPr lang="en-US" dirty="0"/>
              <a:t>A partition is an allocation of storage for a table, backed by solid state drives (SSDs) and automatically replicated </a:t>
            </a:r>
          </a:p>
          <a:p>
            <a:r>
              <a:rPr lang="en-US" dirty="0"/>
              <a:t>across multiple Availability Zones within an AWS Region. </a:t>
            </a:r>
          </a:p>
        </p:txBody>
      </p:sp>
    </p:spTree>
    <p:extLst>
      <p:ext uri="{BB962C8B-B14F-4D97-AF65-F5344CB8AC3E}">
        <p14:creationId xmlns:p14="http://schemas.microsoft.com/office/powerpoint/2010/main" val="991324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CCA2F-BEBB-BAC6-DA7B-F0B3419FF227}"/>
              </a:ext>
            </a:extLst>
          </p:cNvPr>
          <p:cNvSpPr>
            <a:spLocks noGrp="1"/>
          </p:cNvSpPr>
          <p:nvPr>
            <p:ph type="title"/>
          </p:nvPr>
        </p:nvSpPr>
        <p:spPr>
          <a:xfrm>
            <a:off x="838200" y="16306"/>
            <a:ext cx="10515600" cy="1325563"/>
          </a:xfrm>
        </p:spPr>
        <p:txBody>
          <a:bodyPr/>
          <a:lstStyle/>
          <a:p>
            <a:r>
              <a:rPr lang="en-US" b="1" dirty="0"/>
              <a:t>Creating a Table in DynamoDB (Boto3 Python)</a:t>
            </a:r>
            <a:endParaRPr lang="en-US" b="1" i="1" dirty="0"/>
          </a:p>
        </p:txBody>
      </p:sp>
      <p:pic>
        <p:nvPicPr>
          <p:cNvPr id="5" name="Content Placeholder 4" descr="Text&#10;&#10;Description automatically generated with low confidence">
            <a:extLst>
              <a:ext uri="{FF2B5EF4-FFF2-40B4-BE49-F238E27FC236}">
                <a16:creationId xmlns:a16="http://schemas.microsoft.com/office/drawing/2014/main" id="{54DF3580-7C92-CB32-48A9-3DEBD79CD6A8}"/>
              </a:ext>
            </a:extLst>
          </p:cNvPr>
          <p:cNvPicPr>
            <a:picLocks noGrp="1" noRot="1" noChangeAspect="1" noMove="1" noResize="1" noEditPoints="1" noAdjustHandles="1" noChangeArrowheads="1" noChangeShapeType="1" noCrop="1"/>
          </p:cNvPicPr>
          <p:nvPr>
            <p:ph idx="1"/>
          </p:nvPr>
        </p:nvPicPr>
        <p:blipFill>
          <a:blip r:embed="rId3"/>
          <a:stretch>
            <a:fillRect/>
          </a:stretch>
        </p:blipFill>
        <p:spPr>
          <a:xfrm>
            <a:off x="1429355" y="1139238"/>
            <a:ext cx="4666645" cy="5389038"/>
          </a:xfrm>
        </p:spPr>
      </p:pic>
      <p:sp>
        <p:nvSpPr>
          <p:cNvPr id="4" name="Rectangle 3">
            <a:extLst>
              <a:ext uri="{FF2B5EF4-FFF2-40B4-BE49-F238E27FC236}">
                <a16:creationId xmlns:a16="http://schemas.microsoft.com/office/drawing/2014/main" id="{8F36F34F-22A3-BA37-4DA5-451E10EED79C}"/>
              </a:ext>
            </a:extLst>
          </p:cNvPr>
          <p:cNvSpPr/>
          <p:nvPr/>
        </p:nvSpPr>
        <p:spPr>
          <a:xfrm>
            <a:off x="2198915" y="2340429"/>
            <a:ext cx="2830285" cy="555171"/>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C4DB166-559F-E52B-6356-E64250909673}"/>
              </a:ext>
            </a:extLst>
          </p:cNvPr>
          <p:cNvSpPr/>
          <p:nvPr/>
        </p:nvSpPr>
        <p:spPr>
          <a:xfrm>
            <a:off x="2198915" y="2895600"/>
            <a:ext cx="2830285" cy="555171"/>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A4BAA5-CA04-76C5-2531-343763F70B0A}"/>
              </a:ext>
            </a:extLst>
          </p:cNvPr>
          <p:cNvSpPr/>
          <p:nvPr/>
        </p:nvSpPr>
        <p:spPr>
          <a:xfrm>
            <a:off x="1992086" y="3679370"/>
            <a:ext cx="2427514" cy="1186543"/>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4E34D91-4293-D545-B768-35B9FB867A10}"/>
              </a:ext>
            </a:extLst>
          </p:cNvPr>
          <p:cNvSpPr/>
          <p:nvPr/>
        </p:nvSpPr>
        <p:spPr>
          <a:xfrm>
            <a:off x="1901220" y="5053485"/>
            <a:ext cx="3425674" cy="573727"/>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1B40351-1C3D-6C66-9B12-CD85A90962B4}"/>
              </a:ext>
            </a:extLst>
          </p:cNvPr>
          <p:cNvSpPr txBox="1"/>
          <p:nvPr/>
        </p:nvSpPr>
        <p:spPr>
          <a:xfrm>
            <a:off x="6687155" y="5319040"/>
            <a:ext cx="2710742" cy="646331"/>
          </a:xfrm>
          <a:prstGeom prst="rect">
            <a:avLst/>
          </a:prstGeom>
          <a:noFill/>
          <a:ln w="19050">
            <a:solidFill>
              <a:schemeClr val="accent2"/>
            </a:solidFill>
          </a:ln>
        </p:spPr>
        <p:txBody>
          <a:bodyPr wrap="none" rtlCol="0">
            <a:spAutoFit/>
          </a:bodyPr>
          <a:lstStyle/>
          <a:p>
            <a:r>
              <a:rPr lang="en-GB" dirty="0"/>
              <a:t>Up to 10 reads per second</a:t>
            </a:r>
            <a:br>
              <a:rPr lang="en-GB" dirty="0"/>
            </a:br>
            <a:r>
              <a:rPr lang="en-GB" dirty="0"/>
              <a:t>Up to 10 writes per second</a:t>
            </a:r>
            <a:endParaRPr lang="en-US" dirty="0"/>
          </a:p>
        </p:txBody>
      </p:sp>
      <p:sp>
        <p:nvSpPr>
          <p:cNvPr id="10" name="TextBox 9">
            <a:extLst>
              <a:ext uri="{FF2B5EF4-FFF2-40B4-BE49-F238E27FC236}">
                <a16:creationId xmlns:a16="http://schemas.microsoft.com/office/drawing/2014/main" id="{659C8429-62CC-B6E6-F4A2-329D12BC0D38}"/>
              </a:ext>
            </a:extLst>
          </p:cNvPr>
          <p:cNvSpPr txBox="1"/>
          <p:nvPr/>
        </p:nvSpPr>
        <p:spPr>
          <a:xfrm>
            <a:off x="6425898" y="2017263"/>
            <a:ext cx="2854756" cy="369332"/>
          </a:xfrm>
          <a:prstGeom prst="rect">
            <a:avLst/>
          </a:prstGeom>
          <a:noFill/>
          <a:ln w="19050">
            <a:solidFill>
              <a:schemeClr val="accent2"/>
            </a:solidFill>
          </a:ln>
        </p:spPr>
        <p:txBody>
          <a:bodyPr wrap="none" rtlCol="0">
            <a:spAutoFit/>
          </a:bodyPr>
          <a:lstStyle/>
          <a:p>
            <a:r>
              <a:rPr lang="en-GB" dirty="0"/>
              <a:t>Use year as the partition key</a:t>
            </a:r>
            <a:endParaRPr lang="en-US" dirty="0"/>
          </a:p>
        </p:txBody>
      </p:sp>
      <p:sp>
        <p:nvSpPr>
          <p:cNvPr id="11" name="TextBox 10">
            <a:extLst>
              <a:ext uri="{FF2B5EF4-FFF2-40B4-BE49-F238E27FC236}">
                <a16:creationId xmlns:a16="http://schemas.microsoft.com/office/drawing/2014/main" id="{AB085A08-7ABD-435B-CBED-95963F1FFFF3}"/>
              </a:ext>
            </a:extLst>
          </p:cNvPr>
          <p:cNvSpPr txBox="1"/>
          <p:nvPr/>
        </p:nvSpPr>
        <p:spPr>
          <a:xfrm>
            <a:off x="6425898" y="2803853"/>
            <a:ext cx="2375074" cy="369332"/>
          </a:xfrm>
          <a:prstGeom prst="rect">
            <a:avLst/>
          </a:prstGeom>
          <a:noFill/>
          <a:ln w="19050">
            <a:solidFill>
              <a:schemeClr val="accent2"/>
            </a:solidFill>
          </a:ln>
        </p:spPr>
        <p:txBody>
          <a:bodyPr wrap="none" rtlCol="0">
            <a:spAutoFit/>
          </a:bodyPr>
          <a:lstStyle/>
          <a:p>
            <a:r>
              <a:rPr lang="en-GB" dirty="0"/>
              <a:t>Use title as the sort key</a:t>
            </a:r>
            <a:endParaRPr lang="en-US" dirty="0"/>
          </a:p>
        </p:txBody>
      </p:sp>
      <p:cxnSp>
        <p:nvCxnSpPr>
          <p:cNvPr id="13" name="Straight Connector 12">
            <a:extLst>
              <a:ext uri="{FF2B5EF4-FFF2-40B4-BE49-F238E27FC236}">
                <a16:creationId xmlns:a16="http://schemas.microsoft.com/office/drawing/2014/main" id="{732FD798-091F-F8D7-0151-23A37113B5B6}"/>
              </a:ext>
            </a:extLst>
          </p:cNvPr>
          <p:cNvCxnSpPr>
            <a:stCxn id="4" idx="3"/>
            <a:endCxn id="10" idx="1"/>
          </p:cNvCxnSpPr>
          <p:nvPr/>
        </p:nvCxnSpPr>
        <p:spPr>
          <a:xfrm flipV="1">
            <a:off x="5029200" y="2201929"/>
            <a:ext cx="1396698" cy="41608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9757759-24A7-0133-EE5E-D71836D4D861}"/>
              </a:ext>
            </a:extLst>
          </p:cNvPr>
          <p:cNvCxnSpPr>
            <a:cxnSpLocks/>
            <a:stCxn id="6" idx="3"/>
            <a:endCxn id="11" idx="1"/>
          </p:cNvCxnSpPr>
          <p:nvPr/>
        </p:nvCxnSpPr>
        <p:spPr>
          <a:xfrm flipV="1">
            <a:off x="5029200" y="2988519"/>
            <a:ext cx="1396698" cy="18466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EDAC60B-F5E9-7509-AC19-011D9982842A}"/>
              </a:ext>
            </a:extLst>
          </p:cNvPr>
          <p:cNvSpPr txBox="1"/>
          <p:nvPr/>
        </p:nvSpPr>
        <p:spPr>
          <a:xfrm>
            <a:off x="5576812" y="3750406"/>
            <a:ext cx="2625527" cy="923330"/>
          </a:xfrm>
          <a:prstGeom prst="rect">
            <a:avLst/>
          </a:prstGeom>
          <a:noFill/>
          <a:ln w="19050">
            <a:solidFill>
              <a:schemeClr val="accent2"/>
            </a:solidFill>
          </a:ln>
        </p:spPr>
        <p:txBody>
          <a:bodyPr wrap="none" rtlCol="0">
            <a:spAutoFit/>
          </a:bodyPr>
          <a:lstStyle/>
          <a:p>
            <a:r>
              <a:rPr lang="en-GB" dirty="0"/>
              <a:t>Two columns in this table:</a:t>
            </a:r>
            <a:br>
              <a:rPr lang="en-GB" dirty="0"/>
            </a:br>
            <a:r>
              <a:rPr lang="en-GB" b="1" dirty="0"/>
              <a:t>year</a:t>
            </a:r>
            <a:r>
              <a:rPr lang="en-GB" dirty="0"/>
              <a:t>: a number</a:t>
            </a:r>
          </a:p>
          <a:p>
            <a:r>
              <a:rPr lang="en-US" b="1" dirty="0"/>
              <a:t>title</a:t>
            </a:r>
            <a:r>
              <a:rPr lang="en-US" dirty="0"/>
              <a:t>: a string</a:t>
            </a:r>
          </a:p>
        </p:txBody>
      </p:sp>
      <p:cxnSp>
        <p:nvCxnSpPr>
          <p:cNvPr id="19" name="Straight Connector 18">
            <a:extLst>
              <a:ext uri="{FF2B5EF4-FFF2-40B4-BE49-F238E27FC236}">
                <a16:creationId xmlns:a16="http://schemas.microsoft.com/office/drawing/2014/main" id="{9425EE41-0EAE-2976-4BFB-608B8941C313}"/>
              </a:ext>
            </a:extLst>
          </p:cNvPr>
          <p:cNvCxnSpPr>
            <a:stCxn id="7" idx="3"/>
            <a:endCxn id="17" idx="1"/>
          </p:cNvCxnSpPr>
          <p:nvPr/>
        </p:nvCxnSpPr>
        <p:spPr>
          <a:xfrm flipV="1">
            <a:off x="4419600" y="4212071"/>
            <a:ext cx="1157212" cy="6057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2C388A8-935F-4F86-ABDD-0714E2AA4669}"/>
              </a:ext>
            </a:extLst>
          </p:cNvPr>
          <p:cNvCxnSpPr>
            <a:cxnSpLocks/>
            <a:stCxn id="8" idx="3"/>
            <a:endCxn id="9" idx="1"/>
          </p:cNvCxnSpPr>
          <p:nvPr/>
        </p:nvCxnSpPr>
        <p:spPr>
          <a:xfrm>
            <a:off x="5326894" y="5340349"/>
            <a:ext cx="1360261" cy="30185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319CECC-CCC7-08E1-1CEC-C175C6AC954A}"/>
              </a:ext>
            </a:extLst>
          </p:cNvPr>
          <p:cNvSpPr txBox="1"/>
          <p:nvPr/>
        </p:nvSpPr>
        <p:spPr>
          <a:xfrm>
            <a:off x="6343994" y="1149238"/>
            <a:ext cx="3397063" cy="646331"/>
          </a:xfrm>
          <a:prstGeom prst="rect">
            <a:avLst/>
          </a:prstGeom>
          <a:noFill/>
          <a:ln w="19050">
            <a:solidFill>
              <a:schemeClr val="accent2"/>
            </a:solidFill>
          </a:ln>
        </p:spPr>
        <p:txBody>
          <a:bodyPr wrap="square">
            <a:spAutoFit/>
          </a:bodyPr>
          <a:lstStyle/>
          <a:p>
            <a:r>
              <a:rPr lang="en-GB" dirty="0"/>
              <a:t>Create DynamoDB service handle </a:t>
            </a:r>
          </a:p>
          <a:p>
            <a:r>
              <a:rPr lang="en-GB" dirty="0"/>
              <a:t>(selects service + region)</a:t>
            </a:r>
            <a:endParaRPr lang="en-US" dirty="0"/>
          </a:p>
        </p:txBody>
      </p:sp>
      <p:sp>
        <p:nvSpPr>
          <p:cNvPr id="26" name="Rectangle 25">
            <a:extLst>
              <a:ext uri="{FF2B5EF4-FFF2-40B4-BE49-F238E27FC236}">
                <a16:creationId xmlns:a16="http://schemas.microsoft.com/office/drawing/2014/main" id="{7B92D014-A763-6532-49C3-A5FB0C5A77EF}"/>
              </a:ext>
            </a:extLst>
          </p:cNvPr>
          <p:cNvSpPr/>
          <p:nvPr/>
        </p:nvSpPr>
        <p:spPr>
          <a:xfrm>
            <a:off x="1992086" y="1632857"/>
            <a:ext cx="4014938" cy="239486"/>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150BAF09-A7CA-2843-B739-DB34FB4AF5C1}"/>
              </a:ext>
            </a:extLst>
          </p:cNvPr>
          <p:cNvCxnSpPr>
            <a:stCxn id="26" idx="3"/>
            <a:endCxn id="25" idx="1"/>
          </p:cNvCxnSpPr>
          <p:nvPr/>
        </p:nvCxnSpPr>
        <p:spPr>
          <a:xfrm flipV="1">
            <a:off x="6007024" y="1472404"/>
            <a:ext cx="336970" cy="28019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944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7" grpId="0" animBg="1"/>
      <p:bldP spid="25" grpId="0" animBg="1"/>
      <p:bldP spid="2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CCA2F-BEBB-BAC6-DA7B-F0B3419FF227}"/>
              </a:ext>
            </a:extLst>
          </p:cNvPr>
          <p:cNvSpPr>
            <a:spLocks noGrp="1"/>
          </p:cNvSpPr>
          <p:nvPr>
            <p:ph type="title"/>
          </p:nvPr>
        </p:nvSpPr>
        <p:spPr>
          <a:xfrm>
            <a:off x="838200" y="161925"/>
            <a:ext cx="10515600" cy="1325563"/>
          </a:xfrm>
        </p:spPr>
        <p:txBody>
          <a:bodyPr/>
          <a:lstStyle/>
          <a:p>
            <a:pPr algn="ctr"/>
            <a:r>
              <a:rPr lang="en-US" b="1" dirty="0"/>
              <a:t>Inserting an Item into a Table</a:t>
            </a:r>
          </a:p>
        </p:txBody>
      </p:sp>
      <p:pic>
        <p:nvPicPr>
          <p:cNvPr id="7" name="Content Placeholder 6">
            <a:extLst>
              <a:ext uri="{FF2B5EF4-FFF2-40B4-BE49-F238E27FC236}">
                <a16:creationId xmlns:a16="http://schemas.microsoft.com/office/drawing/2014/main" id="{DEB90F1B-EF96-1C9D-01E6-5A906EDBA958}"/>
              </a:ext>
            </a:extLst>
          </p:cNvPr>
          <p:cNvPicPr>
            <a:picLocks noGrp="1" noChangeAspect="1"/>
          </p:cNvPicPr>
          <p:nvPr>
            <p:ph idx="1"/>
          </p:nvPr>
        </p:nvPicPr>
        <p:blipFill>
          <a:blip r:embed="rId3"/>
          <a:stretch>
            <a:fillRect/>
          </a:stretch>
        </p:blipFill>
        <p:spPr>
          <a:xfrm>
            <a:off x="838200" y="1394629"/>
            <a:ext cx="6146289" cy="4856945"/>
          </a:xfrm>
        </p:spPr>
      </p:pic>
      <p:sp>
        <p:nvSpPr>
          <p:cNvPr id="4" name="Rectangle 3">
            <a:extLst>
              <a:ext uri="{FF2B5EF4-FFF2-40B4-BE49-F238E27FC236}">
                <a16:creationId xmlns:a16="http://schemas.microsoft.com/office/drawing/2014/main" id="{ED568655-2350-432D-884D-EBDA060161A6}"/>
              </a:ext>
            </a:extLst>
          </p:cNvPr>
          <p:cNvSpPr/>
          <p:nvPr/>
        </p:nvSpPr>
        <p:spPr>
          <a:xfrm>
            <a:off x="1295400" y="2627333"/>
            <a:ext cx="2808514" cy="270885"/>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47BEECF-6449-66CF-4596-5C3058B1FCF3}"/>
              </a:ext>
            </a:extLst>
          </p:cNvPr>
          <p:cNvSpPr/>
          <p:nvPr/>
        </p:nvSpPr>
        <p:spPr>
          <a:xfrm>
            <a:off x="1926771" y="3624943"/>
            <a:ext cx="2030186" cy="751114"/>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36BC795-DC2D-FB6C-FA6F-5C1EEA9D00AE}"/>
              </a:ext>
            </a:extLst>
          </p:cNvPr>
          <p:cNvSpPr txBox="1"/>
          <p:nvPr/>
        </p:nvSpPr>
        <p:spPr>
          <a:xfrm>
            <a:off x="5789558" y="2677614"/>
            <a:ext cx="4307461" cy="369332"/>
          </a:xfrm>
          <a:prstGeom prst="rect">
            <a:avLst/>
          </a:prstGeom>
          <a:noFill/>
          <a:ln w="19050">
            <a:solidFill>
              <a:schemeClr val="accent2"/>
            </a:solidFill>
          </a:ln>
        </p:spPr>
        <p:txBody>
          <a:bodyPr wrap="none" rtlCol="0">
            <a:spAutoFit/>
          </a:bodyPr>
          <a:lstStyle/>
          <a:p>
            <a:r>
              <a:rPr lang="en-GB" dirty="0"/>
              <a:t>Get a handle/reference to the Movies table</a:t>
            </a:r>
            <a:endParaRPr lang="en-US" dirty="0"/>
          </a:p>
        </p:txBody>
      </p:sp>
      <p:cxnSp>
        <p:nvCxnSpPr>
          <p:cNvPr id="13" name="Straight Connector 12">
            <a:extLst>
              <a:ext uri="{FF2B5EF4-FFF2-40B4-BE49-F238E27FC236}">
                <a16:creationId xmlns:a16="http://schemas.microsoft.com/office/drawing/2014/main" id="{5B12389D-D6F8-1990-C5C4-CBF1CB8C2699}"/>
              </a:ext>
            </a:extLst>
          </p:cNvPr>
          <p:cNvCxnSpPr>
            <a:stCxn id="4" idx="3"/>
            <a:endCxn id="11" idx="1"/>
          </p:cNvCxnSpPr>
          <p:nvPr/>
        </p:nvCxnSpPr>
        <p:spPr>
          <a:xfrm>
            <a:off x="4103914" y="2762776"/>
            <a:ext cx="1685644" cy="9950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F4C24CF-D245-068D-F1F0-05C49ADD5CAE}"/>
              </a:ext>
            </a:extLst>
          </p:cNvPr>
          <p:cNvSpPr txBox="1"/>
          <p:nvPr/>
        </p:nvSpPr>
        <p:spPr>
          <a:xfrm>
            <a:off x="6096000" y="4169411"/>
            <a:ext cx="5884111" cy="2585323"/>
          </a:xfrm>
          <a:prstGeom prst="rect">
            <a:avLst/>
          </a:prstGeom>
          <a:noFill/>
          <a:ln w="19050">
            <a:solidFill>
              <a:schemeClr val="accent2"/>
            </a:solidFill>
          </a:ln>
        </p:spPr>
        <p:txBody>
          <a:bodyPr wrap="none" rtlCol="0">
            <a:spAutoFit/>
          </a:bodyPr>
          <a:lstStyle/>
          <a:p>
            <a:r>
              <a:rPr lang="en-GB" dirty="0"/>
              <a:t>Nested attribute for additional movie data.</a:t>
            </a:r>
            <a:br>
              <a:rPr lang="en-GB" dirty="0"/>
            </a:br>
            <a:r>
              <a:rPr lang="en-GB" dirty="0"/>
              <a:t>These attributes are created automatically by this request.</a:t>
            </a:r>
          </a:p>
          <a:p>
            <a:r>
              <a:rPr lang="en-GB" dirty="0"/>
              <a:t>DynamoDB has no fixed columns (except keys).</a:t>
            </a:r>
          </a:p>
          <a:p>
            <a:endParaRPr lang="en-GB" dirty="0"/>
          </a:p>
          <a:p>
            <a:r>
              <a:rPr lang="en-GB" dirty="0"/>
              <a:t>The database does not have a predefined schema (structure)</a:t>
            </a:r>
          </a:p>
          <a:p>
            <a:endParaRPr lang="en-GB" dirty="0"/>
          </a:p>
          <a:p>
            <a:r>
              <a:rPr lang="en-GB" dirty="0"/>
              <a:t>The table structure can change,</a:t>
            </a:r>
          </a:p>
          <a:p>
            <a:r>
              <a:rPr lang="en-GB" dirty="0"/>
              <a:t>   in a manner similar to objects in code.</a:t>
            </a:r>
          </a:p>
          <a:p>
            <a:endParaRPr lang="en-GB" dirty="0"/>
          </a:p>
        </p:txBody>
      </p:sp>
      <p:sp>
        <p:nvSpPr>
          <p:cNvPr id="15" name="TextBox 14">
            <a:extLst>
              <a:ext uri="{FF2B5EF4-FFF2-40B4-BE49-F238E27FC236}">
                <a16:creationId xmlns:a16="http://schemas.microsoft.com/office/drawing/2014/main" id="{B14406A5-75B1-2198-42B2-5AC7D322B3AA}"/>
              </a:ext>
            </a:extLst>
          </p:cNvPr>
          <p:cNvSpPr txBox="1"/>
          <p:nvPr/>
        </p:nvSpPr>
        <p:spPr>
          <a:xfrm>
            <a:off x="5078185" y="3490705"/>
            <a:ext cx="5044201" cy="369332"/>
          </a:xfrm>
          <a:prstGeom prst="rect">
            <a:avLst/>
          </a:prstGeom>
          <a:noFill/>
          <a:ln w="19050">
            <a:solidFill>
              <a:schemeClr val="accent2"/>
            </a:solidFill>
          </a:ln>
        </p:spPr>
        <p:txBody>
          <a:bodyPr wrap="none" rtlCol="0">
            <a:spAutoFit/>
          </a:bodyPr>
          <a:lstStyle/>
          <a:p>
            <a:r>
              <a:rPr lang="en-GB" dirty="0"/>
              <a:t>Send a write request to insert an item into the table</a:t>
            </a:r>
            <a:endParaRPr lang="en-US" dirty="0"/>
          </a:p>
        </p:txBody>
      </p:sp>
      <p:sp>
        <p:nvSpPr>
          <p:cNvPr id="16" name="Rectangle 15">
            <a:extLst>
              <a:ext uri="{FF2B5EF4-FFF2-40B4-BE49-F238E27FC236}">
                <a16:creationId xmlns:a16="http://schemas.microsoft.com/office/drawing/2014/main" id="{13731AA7-E88A-B19B-A102-F80BF18DC3E8}"/>
              </a:ext>
            </a:extLst>
          </p:cNvPr>
          <p:cNvSpPr/>
          <p:nvPr/>
        </p:nvSpPr>
        <p:spPr>
          <a:xfrm>
            <a:off x="2220686" y="2926150"/>
            <a:ext cx="1393371" cy="241593"/>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84F9A72C-C7D7-00FD-2A30-5C772112B440}"/>
              </a:ext>
            </a:extLst>
          </p:cNvPr>
          <p:cNvCxnSpPr>
            <a:cxnSpLocks/>
            <a:stCxn id="16" idx="3"/>
            <a:endCxn id="15" idx="1"/>
          </p:cNvCxnSpPr>
          <p:nvPr/>
        </p:nvCxnSpPr>
        <p:spPr>
          <a:xfrm>
            <a:off x="3614057" y="3046947"/>
            <a:ext cx="1464128" cy="62842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09A94AE-16BA-4209-723B-26DF66E5160F}"/>
              </a:ext>
            </a:extLst>
          </p:cNvPr>
          <p:cNvCxnSpPr>
            <a:stCxn id="5" idx="3"/>
            <a:endCxn id="14" idx="1"/>
          </p:cNvCxnSpPr>
          <p:nvPr/>
        </p:nvCxnSpPr>
        <p:spPr>
          <a:xfrm>
            <a:off x="3956957" y="4000500"/>
            <a:ext cx="2139043" cy="146157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9384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P spid="14" grpId="0" animBg="1"/>
      <p:bldP spid="15"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CCA2F-BEBB-BAC6-DA7B-F0B3419FF227}"/>
              </a:ext>
            </a:extLst>
          </p:cNvPr>
          <p:cNvSpPr>
            <a:spLocks noGrp="1"/>
          </p:cNvSpPr>
          <p:nvPr>
            <p:ph type="title"/>
          </p:nvPr>
        </p:nvSpPr>
        <p:spPr/>
        <p:txBody>
          <a:bodyPr/>
          <a:lstStyle/>
          <a:p>
            <a:pPr algn="ctr"/>
            <a:r>
              <a:rPr lang="en-US" b="1" dirty="0"/>
              <a:t>Reading an Item From a Table</a:t>
            </a:r>
          </a:p>
        </p:txBody>
      </p:sp>
      <p:pic>
        <p:nvPicPr>
          <p:cNvPr id="6" name="Content Placeholder 5" descr="Text&#10;&#10;Description automatically generated">
            <a:extLst>
              <a:ext uri="{FF2B5EF4-FFF2-40B4-BE49-F238E27FC236}">
                <a16:creationId xmlns:a16="http://schemas.microsoft.com/office/drawing/2014/main" id="{CF5384D9-A0E9-6CBD-DD7F-2F3D01CE2C97}"/>
              </a:ext>
            </a:extLst>
          </p:cNvPr>
          <p:cNvPicPr>
            <a:picLocks noGrp="1" noChangeAspect="1"/>
          </p:cNvPicPr>
          <p:nvPr>
            <p:ph idx="1"/>
          </p:nvPr>
        </p:nvPicPr>
        <p:blipFill>
          <a:blip r:embed="rId3"/>
          <a:stretch>
            <a:fillRect/>
          </a:stretch>
        </p:blipFill>
        <p:spPr>
          <a:xfrm>
            <a:off x="393700" y="1779588"/>
            <a:ext cx="7419194" cy="4303712"/>
          </a:xfrm>
        </p:spPr>
      </p:pic>
      <p:sp>
        <p:nvSpPr>
          <p:cNvPr id="3" name="TextBox 2">
            <a:extLst>
              <a:ext uri="{FF2B5EF4-FFF2-40B4-BE49-F238E27FC236}">
                <a16:creationId xmlns:a16="http://schemas.microsoft.com/office/drawing/2014/main" id="{52D40819-3A1F-2026-E9E8-261A735E76EA}"/>
              </a:ext>
            </a:extLst>
          </p:cNvPr>
          <p:cNvSpPr txBox="1"/>
          <p:nvPr/>
        </p:nvSpPr>
        <p:spPr>
          <a:xfrm>
            <a:off x="6930741" y="2674839"/>
            <a:ext cx="5119350" cy="369332"/>
          </a:xfrm>
          <a:prstGeom prst="rect">
            <a:avLst/>
          </a:prstGeom>
          <a:noFill/>
          <a:ln w="19050">
            <a:solidFill>
              <a:schemeClr val="accent2"/>
            </a:solidFill>
          </a:ln>
        </p:spPr>
        <p:txBody>
          <a:bodyPr wrap="none" rtlCol="0">
            <a:spAutoFit/>
          </a:bodyPr>
          <a:lstStyle/>
          <a:p>
            <a:r>
              <a:rPr lang="en-GB" dirty="0"/>
              <a:t>Fetch item using its primary key (partition + sort key)</a:t>
            </a:r>
            <a:endParaRPr lang="en-US" dirty="0"/>
          </a:p>
        </p:txBody>
      </p:sp>
      <p:sp>
        <p:nvSpPr>
          <p:cNvPr id="4" name="Rectangle 3">
            <a:extLst>
              <a:ext uri="{FF2B5EF4-FFF2-40B4-BE49-F238E27FC236}">
                <a16:creationId xmlns:a16="http://schemas.microsoft.com/office/drawing/2014/main" id="{51D3876E-7C4B-BD24-4C7A-AD1C0147BD1B}"/>
              </a:ext>
            </a:extLst>
          </p:cNvPr>
          <p:cNvSpPr/>
          <p:nvPr/>
        </p:nvSpPr>
        <p:spPr>
          <a:xfrm>
            <a:off x="1298713" y="3283226"/>
            <a:ext cx="6122504" cy="255104"/>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2E8C4C0-4D5D-32B7-0D29-64492DA0BB88}"/>
              </a:ext>
            </a:extLst>
          </p:cNvPr>
          <p:cNvCxnSpPr>
            <a:cxnSpLocks/>
            <a:stCxn id="4" idx="3"/>
            <a:endCxn id="3" idx="2"/>
          </p:cNvCxnSpPr>
          <p:nvPr/>
        </p:nvCxnSpPr>
        <p:spPr>
          <a:xfrm flipV="1">
            <a:off x="7421217" y="3044171"/>
            <a:ext cx="2069199" cy="36660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0D1FEFB-53D6-8D92-C87E-BA94E9DEFEFE}"/>
              </a:ext>
            </a:extLst>
          </p:cNvPr>
          <p:cNvSpPr txBox="1"/>
          <p:nvPr/>
        </p:nvSpPr>
        <p:spPr>
          <a:xfrm>
            <a:off x="6650201" y="3705156"/>
            <a:ext cx="4624086" cy="646331"/>
          </a:xfrm>
          <a:prstGeom prst="rect">
            <a:avLst/>
          </a:prstGeom>
          <a:noFill/>
          <a:ln w="19050">
            <a:solidFill>
              <a:schemeClr val="accent2"/>
            </a:solidFill>
          </a:ln>
        </p:spPr>
        <p:txBody>
          <a:bodyPr wrap="none" rtlCol="0">
            <a:spAutoFit/>
          </a:bodyPr>
          <a:lstStyle/>
          <a:p>
            <a:r>
              <a:rPr lang="en-GB" dirty="0"/>
              <a:t>Only primary keys support fast reads/writes</a:t>
            </a:r>
          </a:p>
          <a:p>
            <a:r>
              <a:rPr lang="en-GB" dirty="0"/>
              <a:t> (non-key attributes cannot be queried directly)</a:t>
            </a:r>
          </a:p>
        </p:txBody>
      </p:sp>
    </p:spTree>
    <p:extLst>
      <p:ext uri="{BB962C8B-B14F-4D97-AF65-F5344CB8AC3E}">
        <p14:creationId xmlns:p14="http://schemas.microsoft.com/office/powerpoint/2010/main" val="4123976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CCA2F-BEBB-BAC6-DA7B-F0B3419FF227}"/>
              </a:ext>
            </a:extLst>
          </p:cNvPr>
          <p:cNvSpPr>
            <a:spLocks noGrp="1"/>
          </p:cNvSpPr>
          <p:nvPr>
            <p:ph type="title"/>
          </p:nvPr>
        </p:nvSpPr>
        <p:spPr/>
        <p:txBody>
          <a:bodyPr/>
          <a:lstStyle/>
          <a:p>
            <a:pPr algn="ctr"/>
            <a:r>
              <a:rPr lang="en-US" b="1" dirty="0"/>
              <a:t>Conditionally Deleting Items</a:t>
            </a:r>
          </a:p>
        </p:txBody>
      </p:sp>
      <p:pic>
        <p:nvPicPr>
          <p:cNvPr id="6" name="Content Placeholder 5">
            <a:extLst>
              <a:ext uri="{FF2B5EF4-FFF2-40B4-BE49-F238E27FC236}">
                <a16:creationId xmlns:a16="http://schemas.microsoft.com/office/drawing/2014/main" id="{C4E975E8-9A05-F4A3-5D7A-B0438C98DFB0}"/>
              </a:ext>
            </a:extLst>
          </p:cNvPr>
          <p:cNvPicPr>
            <a:picLocks noGrp="1" noChangeAspect="1"/>
          </p:cNvPicPr>
          <p:nvPr>
            <p:ph idx="1"/>
          </p:nvPr>
        </p:nvPicPr>
        <p:blipFill>
          <a:blip r:embed="rId3"/>
          <a:stretch>
            <a:fillRect/>
          </a:stretch>
        </p:blipFill>
        <p:spPr>
          <a:xfrm>
            <a:off x="449131" y="1355725"/>
            <a:ext cx="5575890" cy="5073650"/>
          </a:xfrm>
        </p:spPr>
      </p:pic>
      <p:sp>
        <p:nvSpPr>
          <p:cNvPr id="4" name="TextBox 3">
            <a:extLst>
              <a:ext uri="{FF2B5EF4-FFF2-40B4-BE49-F238E27FC236}">
                <a16:creationId xmlns:a16="http://schemas.microsoft.com/office/drawing/2014/main" id="{B6E591CE-32ED-BA86-10E5-615F62FCA2B4}"/>
              </a:ext>
            </a:extLst>
          </p:cNvPr>
          <p:cNvSpPr txBox="1"/>
          <p:nvPr/>
        </p:nvSpPr>
        <p:spPr>
          <a:xfrm>
            <a:off x="5108856" y="2149629"/>
            <a:ext cx="3728906" cy="369332"/>
          </a:xfrm>
          <a:prstGeom prst="rect">
            <a:avLst/>
          </a:prstGeom>
          <a:noFill/>
          <a:ln w="19050">
            <a:solidFill>
              <a:schemeClr val="accent2"/>
            </a:solidFill>
          </a:ln>
        </p:spPr>
        <p:txBody>
          <a:bodyPr wrap="none" rtlCol="0">
            <a:spAutoFit/>
          </a:bodyPr>
          <a:lstStyle/>
          <a:p>
            <a:r>
              <a:rPr lang="en-GB" dirty="0"/>
              <a:t>Identify the item using its primary key</a:t>
            </a:r>
            <a:endParaRPr lang="en-US" dirty="0"/>
          </a:p>
        </p:txBody>
      </p:sp>
      <p:sp>
        <p:nvSpPr>
          <p:cNvPr id="5" name="TextBox 4">
            <a:extLst>
              <a:ext uri="{FF2B5EF4-FFF2-40B4-BE49-F238E27FC236}">
                <a16:creationId xmlns:a16="http://schemas.microsoft.com/office/drawing/2014/main" id="{7441F3ED-DC28-9673-849C-91BF4A5CBFEA}"/>
              </a:ext>
            </a:extLst>
          </p:cNvPr>
          <p:cNvSpPr txBox="1"/>
          <p:nvPr/>
        </p:nvSpPr>
        <p:spPr>
          <a:xfrm>
            <a:off x="6025021" y="3196394"/>
            <a:ext cx="4978992" cy="3416320"/>
          </a:xfrm>
          <a:prstGeom prst="rect">
            <a:avLst/>
          </a:prstGeom>
          <a:noFill/>
          <a:ln w="19050">
            <a:solidFill>
              <a:schemeClr val="accent2"/>
            </a:solidFill>
          </a:ln>
        </p:spPr>
        <p:txBody>
          <a:bodyPr wrap="none" rtlCol="0">
            <a:spAutoFit/>
          </a:bodyPr>
          <a:lstStyle/>
          <a:p>
            <a:r>
              <a:rPr lang="en-GB" dirty="0"/>
              <a:t>Delete only if the item's rating is less than or equal </a:t>
            </a:r>
          </a:p>
          <a:p>
            <a:r>
              <a:rPr lang="en-GB" dirty="0"/>
              <a:t>to the threshold</a:t>
            </a:r>
          </a:p>
          <a:p>
            <a:endParaRPr lang="en-GB" dirty="0"/>
          </a:p>
          <a:p>
            <a:r>
              <a:rPr lang="en-GB" dirty="0"/>
              <a:t>DynamoDB needs a description of the expression</a:t>
            </a:r>
          </a:p>
          <a:p>
            <a:r>
              <a:rPr lang="en-GB" dirty="0"/>
              <a:t>to perform it remotely on its servers</a:t>
            </a:r>
          </a:p>
          <a:p>
            <a:endParaRPr lang="en-GB" dirty="0"/>
          </a:p>
          <a:p>
            <a:r>
              <a:rPr lang="en-GB" dirty="0"/>
              <a:t>DynamoDB performs these operations </a:t>
            </a:r>
            <a:r>
              <a:rPr lang="en-GB" b="1" dirty="0"/>
              <a:t>atomically:</a:t>
            </a:r>
            <a:br>
              <a:rPr lang="en-GB" b="1" dirty="0"/>
            </a:br>
            <a:br>
              <a:rPr lang="en-GB" b="1" dirty="0"/>
            </a:br>
            <a:r>
              <a:rPr lang="en-GB" b="1" dirty="0"/>
              <a:t>     </a:t>
            </a:r>
            <a:r>
              <a:rPr lang="en-GB" dirty="0"/>
              <a:t>Find item by key</a:t>
            </a:r>
          </a:p>
          <a:p>
            <a:r>
              <a:rPr lang="en-GB" dirty="0"/>
              <a:t>     Check condition on server</a:t>
            </a:r>
          </a:p>
          <a:p>
            <a:r>
              <a:rPr lang="en-GB" dirty="0"/>
              <a:t>     If true → delete</a:t>
            </a:r>
          </a:p>
          <a:p>
            <a:r>
              <a:rPr lang="en-GB" dirty="0"/>
              <a:t>     If false → abort</a:t>
            </a:r>
            <a:endParaRPr lang="en-US" dirty="0"/>
          </a:p>
        </p:txBody>
      </p:sp>
      <p:sp>
        <p:nvSpPr>
          <p:cNvPr id="9" name="Rectangle 8">
            <a:extLst>
              <a:ext uri="{FF2B5EF4-FFF2-40B4-BE49-F238E27FC236}">
                <a16:creationId xmlns:a16="http://schemas.microsoft.com/office/drawing/2014/main" id="{5946FCD3-9205-361A-8B15-73E31D024DE8}"/>
              </a:ext>
            </a:extLst>
          </p:cNvPr>
          <p:cNvSpPr/>
          <p:nvPr/>
        </p:nvSpPr>
        <p:spPr>
          <a:xfrm>
            <a:off x="1298713" y="2623930"/>
            <a:ext cx="1938363" cy="572464"/>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04EEF9C7-9C4D-2487-1EFC-594F18512136}"/>
              </a:ext>
            </a:extLst>
          </p:cNvPr>
          <p:cNvCxnSpPr>
            <a:endCxn id="4" idx="1"/>
          </p:cNvCxnSpPr>
          <p:nvPr/>
        </p:nvCxnSpPr>
        <p:spPr>
          <a:xfrm flipV="1">
            <a:off x="3237076" y="2334295"/>
            <a:ext cx="1871780" cy="6076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CA32B10-7CD8-374F-26C2-1CDD942AE309}"/>
              </a:ext>
            </a:extLst>
          </p:cNvPr>
          <p:cNvSpPr/>
          <p:nvPr/>
        </p:nvSpPr>
        <p:spPr>
          <a:xfrm>
            <a:off x="1298713" y="3196394"/>
            <a:ext cx="3087757" cy="696156"/>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E9C66B50-F70A-4B5C-F7AA-C33C9F7058C0}"/>
              </a:ext>
            </a:extLst>
          </p:cNvPr>
          <p:cNvCxnSpPr>
            <a:stCxn id="14" idx="3"/>
            <a:endCxn id="6" idx="3"/>
          </p:cNvCxnSpPr>
          <p:nvPr/>
        </p:nvCxnSpPr>
        <p:spPr>
          <a:xfrm>
            <a:off x="4386470" y="3544472"/>
            <a:ext cx="1638551" cy="34807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8231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CCA2F-BEBB-BAC6-DA7B-F0B3419FF227}"/>
              </a:ext>
            </a:extLst>
          </p:cNvPr>
          <p:cNvSpPr>
            <a:spLocks noGrp="1"/>
          </p:cNvSpPr>
          <p:nvPr>
            <p:ph type="title"/>
          </p:nvPr>
        </p:nvSpPr>
        <p:spPr/>
        <p:txBody>
          <a:bodyPr/>
          <a:lstStyle/>
          <a:p>
            <a:pPr algn="ctr"/>
            <a:r>
              <a:rPr lang="en-US" b="1" dirty="0"/>
              <a:t>General Queries</a:t>
            </a:r>
          </a:p>
        </p:txBody>
      </p:sp>
      <p:sp>
        <p:nvSpPr>
          <p:cNvPr id="4" name="Content Placeholder 3">
            <a:extLst>
              <a:ext uri="{FF2B5EF4-FFF2-40B4-BE49-F238E27FC236}">
                <a16:creationId xmlns:a16="http://schemas.microsoft.com/office/drawing/2014/main" id="{21BBAAB5-6F96-D840-F2D6-1A0F4F637E76}"/>
              </a:ext>
            </a:extLst>
          </p:cNvPr>
          <p:cNvSpPr>
            <a:spLocks noGrp="1"/>
          </p:cNvSpPr>
          <p:nvPr>
            <p:ph idx="1"/>
          </p:nvPr>
        </p:nvSpPr>
        <p:spPr/>
        <p:txBody>
          <a:bodyPr/>
          <a:lstStyle/>
          <a:p>
            <a:pPr marL="0" indent="0">
              <a:buNone/>
            </a:pPr>
            <a:r>
              <a:rPr lang="en-US" b="1" i="1" dirty="0"/>
              <a:t>Get all movies released in a given year</a:t>
            </a:r>
          </a:p>
          <a:p>
            <a:pPr marL="0" indent="0">
              <a:buNone/>
            </a:pPr>
            <a:endParaRPr lang="en-US" dirty="0"/>
          </a:p>
          <a:p>
            <a:pPr marL="0" indent="0">
              <a:buNone/>
            </a:pPr>
            <a:endParaRPr lang="en-US" dirty="0"/>
          </a:p>
        </p:txBody>
      </p:sp>
      <p:pic>
        <p:nvPicPr>
          <p:cNvPr id="6" name="Picture 5" descr="Text, letter&#10;&#10;Description automatically generated">
            <a:extLst>
              <a:ext uri="{FF2B5EF4-FFF2-40B4-BE49-F238E27FC236}">
                <a16:creationId xmlns:a16="http://schemas.microsoft.com/office/drawing/2014/main" id="{0D159829-F5CE-F6A0-7D81-CB7647990471}"/>
              </a:ext>
            </a:extLst>
          </p:cNvPr>
          <p:cNvPicPr>
            <a:picLocks noChangeAspect="1"/>
          </p:cNvPicPr>
          <p:nvPr/>
        </p:nvPicPr>
        <p:blipFill>
          <a:blip r:embed="rId3"/>
          <a:stretch>
            <a:fillRect/>
          </a:stretch>
        </p:blipFill>
        <p:spPr>
          <a:xfrm>
            <a:off x="952500" y="2404765"/>
            <a:ext cx="6591300" cy="3987800"/>
          </a:xfrm>
          <a:prstGeom prst="rect">
            <a:avLst/>
          </a:prstGeom>
        </p:spPr>
      </p:pic>
      <p:sp>
        <p:nvSpPr>
          <p:cNvPr id="3" name="TextBox 2">
            <a:extLst>
              <a:ext uri="{FF2B5EF4-FFF2-40B4-BE49-F238E27FC236}">
                <a16:creationId xmlns:a16="http://schemas.microsoft.com/office/drawing/2014/main" id="{6106A3E4-0DEE-5E17-22F9-5ECA3CBE2609}"/>
              </a:ext>
            </a:extLst>
          </p:cNvPr>
          <p:cNvSpPr txBox="1"/>
          <p:nvPr/>
        </p:nvSpPr>
        <p:spPr>
          <a:xfrm>
            <a:off x="6096000" y="2404765"/>
            <a:ext cx="4996176" cy="369332"/>
          </a:xfrm>
          <a:prstGeom prst="rect">
            <a:avLst/>
          </a:prstGeom>
          <a:noFill/>
          <a:ln w="19050">
            <a:solidFill>
              <a:schemeClr val="accent2"/>
            </a:solidFill>
          </a:ln>
        </p:spPr>
        <p:txBody>
          <a:bodyPr wrap="none" rtlCol="0">
            <a:spAutoFit/>
          </a:bodyPr>
          <a:lstStyle/>
          <a:p>
            <a:r>
              <a:rPr lang="en-GB" dirty="0"/>
              <a:t>Import helper to build key-based query expressions</a:t>
            </a:r>
            <a:endParaRPr lang="en-US" dirty="0"/>
          </a:p>
        </p:txBody>
      </p:sp>
      <p:sp>
        <p:nvSpPr>
          <p:cNvPr id="5" name="Rectangle 4">
            <a:extLst>
              <a:ext uri="{FF2B5EF4-FFF2-40B4-BE49-F238E27FC236}">
                <a16:creationId xmlns:a16="http://schemas.microsoft.com/office/drawing/2014/main" id="{6DBA170F-9F4B-0876-BEF9-F2C20931DDF8}"/>
              </a:ext>
            </a:extLst>
          </p:cNvPr>
          <p:cNvSpPr/>
          <p:nvPr/>
        </p:nvSpPr>
        <p:spPr>
          <a:xfrm>
            <a:off x="1139687" y="2589431"/>
            <a:ext cx="3578087" cy="286291"/>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71AA29D4-FBB5-B057-5E53-B7F62FFBEA48}"/>
              </a:ext>
            </a:extLst>
          </p:cNvPr>
          <p:cNvCxnSpPr>
            <a:stCxn id="5" idx="3"/>
            <a:endCxn id="3" idx="1"/>
          </p:cNvCxnSpPr>
          <p:nvPr/>
        </p:nvCxnSpPr>
        <p:spPr>
          <a:xfrm flipV="1">
            <a:off x="4717774" y="2589431"/>
            <a:ext cx="1378226" cy="14314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52A17EE-4210-7087-81D7-FD8F89AA252A}"/>
              </a:ext>
            </a:extLst>
          </p:cNvPr>
          <p:cNvSpPr txBox="1"/>
          <p:nvPr/>
        </p:nvSpPr>
        <p:spPr>
          <a:xfrm>
            <a:off x="5724940" y="4918750"/>
            <a:ext cx="6316601" cy="1200329"/>
          </a:xfrm>
          <a:prstGeom prst="rect">
            <a:avLst/>
          </a:prstGeom>
          <a:noFill/>
          <a:ln w="19050">
            <a:solidFill>
              <a:schemeClr val="accent2"/>
            </a:solidFill>
          </a:ln>
        </p:spPr>
        <p:txBody>
          <a:bodyPr wrap="none" rtlCol="0">
            <a:spAutoFit/>
          </a:bodyPr>
          <a:lstStyle/>
          <a:p>
            <a:r>
              <a:rPr lang="en-GB" dirty="0"/>
              <a:t>Use the Key convenience class to build a key condition expression</a:t>
            </a:r>
          </a:p>
          <a:p>
            <a:r>
              <a:rPr lang="en-GB" dirty="0"/>
              <a:t>(the expression is evaluated on the DynamoDB server)</a:t>
            </a:r>
          </a:p>
          <a:p>
            <a:endParaRPr lang="en-GB" dirty="0"/>
          </a:p>
          <a:p>
            <a:r>
              <a:rPr lang="en-GB" dirty="0"/>
              <a:t>route to the correct partition and return matching items</a:t>
            </a:r>
            <a:endParaRPr lang="en-US" dirty="0"/>
          </a:p>
        </p:txBody>
      </p:sp>
      <p:sp>
        <p:nvSpPr>
          <p:cNvPr id="12" name="Rectangle 11">
            <a:extLst>
              <a:ext uri="{FF2B5EF4-FFF2-40B4-BE49-F238E27FC236}">
                <a16:creationId xmlns:a16="http://schemas.microsoft.com/office/drawing/2014/main" id="{C62C53E3-AA96-7408-1445-904D3520D3E8}"/>
              </a:ext>
            </a:extLst>
          </p:cNvPr>
          <p:cNvSpPr/>
          <p:nvPr/>
        </p:nvSpPr>
        <p:spPr>
          <a:xfrm>
            <a:off x="1484243" y="3916742"/>
            <a:ext cx="4240697" cy="561153"/>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8275F180-86D9-2CBF-F157-ED4B6C41AA7C}"/>
              </a:ext>
            </a:extLst>
          </p:cNvPr>
          <p:cNvCxnSpPr>
            <a:stCxn id="12" idx="3"/>
            <a:endCxn id="11" idx="0"/>
          </p:cNvCxnSpPr>
          <p:nvPr/>
        </p:nvCxnSpPr>
        <p:spPr>
          <a:xfrm>
            <a:off x="5724940" y="4197319"/>
            <a:ext cx="3158301" cy="72143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104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1" grpId="0" animBg="1"/>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F7A6D-535F-8674-50FA-67DA0283FD9A}"/>
              </a:ext>
            </a:extLst>
          </p:cNvPr>
          <p:cNvSpPr>
            <a:spLocks noGrp="1"/>
          </p:cNvSpPr>
          <p:nvPr>
            <p:ph type="title"/>
          </p:nvPr>
        </p:nvSpPr>
        <p:spPr>
          <a:xfrm>
            <a:off x="838200" y="365126"/>
            <a:ext cx="10388600" cy="938742"/>
          </a:xfrm>
        </p:spPr>
        <p:txBody>
          <a:bodyPr/>
          <a:lstStyle/>
          <a:p>
            <a:pPr algn="ctr"/>
            <a:r>
              <a:rPr lang="en-US" b="1" dirty="0"/>
              <a:t>General Queries</a:t>
            </a:r>
          </a:p>
        </p:txBody>
      </p:sp>
      <p:sp>
        <p:nvSpPr>
          <p:cNvPr id="3" name="Content Placeholder 2">
            <a:extLst>
              <a:ext uri="{FF2B5EF4-FFF2-40B4-BE49-F238E27FC236}">
                <a16:creationId xmlns:a16="http://schemas.microsoft.com/office/drawing/2014/main" id="{7A158784-DA59-C69F-A086-38B130AA99E0}"/>
              </a:ext>
            </a:extLst>
          </p:cNvPr>
          <p:cNvSpPr>
            <a:spLocks noGrp="1"/>
          </p:cNvSpPr>
          <p:nvPr>
            <p:ph idx="1"/>
          </p:nvPr>
        </p:nvSpPr>
        <p:spPr>
          <a:xfrm>
            <a:off x="838200" y="1389063"/>
            <a:ext cx="10515600" cy="4351338"/>
          </a:xfrm>
        </p:spPr>
        <p:txBody>
          <a:bodyPr>
            <a:normAutofit/>
          </a:bodyPr>
          <a:lstStyle/>
          <a:p>
            <a:pPr marL="0" indent="0">
              <a:buNone/>
            </a:pPr>
            <a:r>
              <a:rPr lang="en-US" b="1" i="1" dirty="0"/>
              <a:t>Get all movies released in a given year, with titles within a range</a:t>
            </a:r>
          </a:p>
          <a:p>
            <a:pPr marL="0" indent="0">
              <a:buNone/>
            </a:pPr>
            <a:endParaRPr lang="en-US" dirty="0"/>
          </a:p>
        </p:txBody>
      </p:sp>
      <p:pic>
        <p:nvPicPr>
          <p:cNvPr id="5" name="Picture 4">
            <a:extLst>
              <a:ext uri="{FF2B5EF4-FFF2-40B4-BE49-F238E27FC236}">
                <a16:creationId xmlns:a16="http://schemas.microsoft.com/office/drawing/2014/main" id="{EA9EB04E-4695-3E11-4C94-8E417C1A711E}"/>
              </a:ext>
            </a:extLst>
          </p:cNvPr>
          <p:cNvPicPr>
            <a:picLocks noChangeAspect="1"/>
          </p:cNvPicPr>
          <p:nvPr/>
        </p:nvPicPr>
        <p:blipFill>
          <a:blip r:embed="rId3"/>
          <a:stretch>
            <a:fillRect/>
          </a:stretch>
        </p:blipFill>
        <p:spPr>
          <a:xfrm>
            <a:off x="1115483" y="1881717"/>
            <a:ext cx="7658100" cy="4787900"/>
          </a:xfrm>
          <a:prstGeom prst="rect">
            <a:avLst/>
          </a:prstGeom>
        </p:spPr>
      </p:pic>
      <p:sp>
        <p:nvSpPr>
          <p:cNvPr id="4" name="Rectangle 3">
            <a:extLst>
              <a:ext uri="{FF2B5EF4-FFF2-40B4-BE49-F238E27FC236}">
                <a16:creationId xmlns:a16="http://schemas.microsoft.com/office/drawing/2014/main" id="{29828FCB-CFC6-924B-A29E-9B2AC3A34F37}"/>
              </a:ext>
            </a:extLst>
          </p:cNvPr>
          <p:cNvSpPr/>
          <p:nvPr/>
        </p:nvSpPr>
        <p:spPr>
          <a:xfrm>
            <a:off x="1889759" y="3572256"/>
            <a:ext cx="5498593" cy="377952"/>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CA4193E-1C2D-32DF-0DAC-64565C2AC4B9}"/>
              </a:ext>
            </a:extLst>
          </p:cNvPr>
          <p:cNvSpPr txBox="1"/>
          <p:nvPr/>
        </p:nvSpPr>
        <p:spPr>
          <a:xfrm>
            <a:off x="9050866" y="2328672"/>
            <a:ext cx="3078471" cy="923330"/>
          </a:xfrm>
          <a:prstGeom prst="rect">
            <a:avLst/>
          </a:prstGeom>
          <a:noFill/>
          <a:ln w="19050">
            <a:solidFill>
              <a:schemeClr val="accent2"/>
            </a:solidFill>
          </a:ln>
        </p:spPr>
        <p:txBody>
          <a:bodyPr wrap="none" rtlCol="0">
            <a:spAutoFit/>
          </a:bodyPr>
          <a:lstStyle/>
          <a:p>
            <a:r>
              <a:rPr lang="en-GB" dirty="0"/>
              <a:t>Return only selected attributes</a:t>
            </a:r>
          </a:p>
          <a:p>
            <a:r>
              <a:rPr lang="en-GB" dirty="0"/>
              <a:t> (partial item fetch, reduces </a:t>
            </a:r>
          </a:p>
          <a:p>
            <a:r>
              <a:rPr lang="en-GB" dirty="0"/>
              <a:t>data transfer)</a:t>
            </a:r>
            <a:endParaRPr lang="en-US" dirty="0"/>
          </a:p>
        </p:txBody>
      </p:sp>
      <p:sp>
        <p:nvSpPr>
          <p:cNvPr id="7" name="TextBox 6">
            <a:extLst>
              <a:ext uri="{FF2B5EF4-FFF2-40B4-BE49-F238E27FC236}">
                <a16:creationId xmlns:a16="http://schemas.microsoft.com/office/drawing/2014/main" id="{C60FA9A2-BCDF-3781-3A9A-F9339A909F7C}"/>
              </a:ext>
            </a:extLst>
          </p:cNvPr>
          <p:cNvSpPr txBox="1"/>
          <p:nvPr/>
        </p:nvSpPr>
        <p:spPr>
          <a:xfrm>
            <a:off x="7348604" y="4723084"/>
            <a:ext cx="4819012" cy="1200329"/>
          </a:xfrm>
          <a:prstGeom prst="rect">
            <a:avLst/>
          </a:prstGeom>
          <a:noFill/>
          <a:ln w="19050">
            <a:solidFill>
              <a:schemeClr val="accent2"/>
            </a:solidFill>
          </a:ln>
        </p:spPr>
        <p:txBody>
          <a:bodyPr wrap="none" rtlCol="0">
            <a:spAutoFit/>
          </a:bodyPr>
          <a:lstStyle/>
          <a:p>
            <a:r>
              <a:rPr lang="en-GB" dirty="0"/>
              <a:t>The alias (#yr) is not required in this specific case,</a:t>
            </a:r>
          </a:p>
          <a:p>
            <a:r>
              <a:rPr lang="en-GB" dirty="0"/>
              <a:t>but shown as an example for alias creation for</a:t>
            </a:r>
          </a:p>
          <a:p>
            <a:r>
              <a:rPr lang="en-GB" dirty="0"/>
              <a:t>safe parsing (to avoid potential use of reserved</a:t>
            </a:r>
          </a:p>
          <a:p>
            <a:r>
              <a:rPr lang="en-GB" dirty="0"/>
              <a:t>keywords). </a:t>
            </a:r>
            <a:endParaRPr lang="en-US" dirty="0"/>
          </a:p>
        </p:txBody>
      </p:sp>
      <p:cxnSp>
        <p:nvCxnSpPr>
          <p:cNvPr id="11" name="Straight Connector 10">
            <a:extLst>
              <a:ext uri="{FF2B5EF4-FFF2-40B4-BE49-F238E27FC236}">
                <a16:creationId xmlns:a16="http://schemas.microsoft.com/office/drawing/2014/main" id="{A8D11983-BE7F-D949-707C-CBDE9F94F123}"/>
              </a:ext>
            </a:extLst>
          </p:cNvPr>
          <p:cNvCxnSpPr>
            <a:stCxn id="4" idx="3"/>
            <a:endCxn id="7" idx="0"/>
          </p:cNvCxnSpPr>
          <p:nvPr/>
        </p:nvCxnSpPr>
        <p:spPr>
          <a:xfrm>
            <a:off x="7388352" y="3761232"/>
            <a:ext cx="2369758" cy="96185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78FB2FB-EF69-14A2-62C1-479DB7BD4415}"/>
              </a:ext>
            </a:extLst>
          </p:cNvPr>
          <p:cNvCxnSpPr>
            <a:stCxn id="4" idx="3"/>
            <a:endCxn id="6" idx="1"/>
          </p:cNvCxnSpPr>
          <p:nvPr/>
        </p:nvCxnSpPr>
        <p:spPr>
          <a:xfrm flipV="1">
            <a:off x="7388352" y="2790337"/>
            <a:ext cx="1662514" cy="97089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0154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95D93-73E3-B27F-71EB-C31F6347F096}"/>
              </a:ext>
            </a:extLst>
          </p:cNvPr>
          <p:cNvSpPr>
            <a:spLocks noGrp="1"/>
          </p:cNvSpPr>
          <p:nvPr>
            <p:ph type="title"/>
          </p:nvPr>
        </p:nvSpPr>
        <p:spPr/>
        <p:txBody>
          <a:bodyPr/>
          <a:lstStyle/>
          <a:p>
            <a:pPr algn="ctr"/>
            <a:r>
              <a:rPr lang="en-US" b="1" dirty="0"/>
              <a:t>Querying Across Multiple Partitions</a:t>
            </a:r>
          </a:p>
        </p:txBody>
      </p:sp>
      <p:sp>
        <p:nvSpPr>
          <p:cNvPr id="3" name="Content Placeholder 2">
            <a:extLst>
              <a:ext uri="{FF2B5EF4-FFF2-40B4-BE49-F238E27FC236}">
                <a16:creationId xmlns:a16="http://schemas.microsoft.com/office/drawing/2014/main" id="{57538DF2-2911-A0E7-68E0-BB14781D9868}"/>
              </a:ext>
            </a:extLst>
          </p:cNvPr>
          <p:cNvSpPr>
            <a:spLocks noGrp="1"/>
          </p:cNvSpPr>
          <p:nvPr>
            <p:ph idx="1"/>
          </p:nvPr>
        </p:nvSpPr>
        <p:spPr/>
        <p:txBody>
          <a:bodyPr>
            <a:normAutofit/>
          </a:bodyPr>
          <a:lstStyle/>
          <a:p>
            <a:pPr marL="0" indent="0">
              <a:buNone/>
            </a:pPr>
            <a:r>
              <a:rPr lang="en-GB" i="1" dirty="0">
                <a:effectLst/>
                <a:latin typeface="Calibri" panose="020F0502020204030204" pitchFamily="34" charset="0"/>
                <a:ea typeface="Calibri" panose="020F0502020204030204" pitchFamily="34" charset="0"/>
                <a:cs typeface="Arial" panose="020B0604020202020204" pitchFamily="34" charset="0"/>
              </a:rPr>
              <a:t>Print all movies between (and including) the years 1950 and 1959.</a:t>
            </a:r>
            <a:r>
              <a:rPr lang="en-GB" i="1" dirty="0">
                <a:effectLst/>
              </a:rPr>
              <a:t> </a:t>
            </a:r>
          </a:p>
          <a:p>
            <a:pPr marL="0" indent="0">
              <a:buNone/>
            </a:pPr>
            <a:endParaRPr lang="en-GB" i="1" dirty="0"/>
          </a:p>
          <a:p>
            <a:pPr marL="0" indent="0">
              <a:buNone/>
            </a:pPr>
            <a:r>
              <a:rPr lang="en-GB" dirty="0"/>
              <a:t>In a relational database this would be a straight-forward condition in a WHERE clause, as the entire table is available in one place.</a:t>
            </a:r>
          </a:p>
          <a:p>
            <a:pPr marL="0" indent="0">
              <a:buNone/>
            </a:pPr>
            <a:endParaRPr lang="en-GB" dirty="0"/>
          </a:p>
          <a:p>
            <a:pPr marL="0" indent="0">
              <a:buNone/>
            </a:pPr>
            <a:r>
              <a:rPr lang="en-GB" dirty="0"/>
              <a:t>In a key store, each key (i.e., the year) is mapped to a different partition, therefore all partitions in the range need to be </a:t>
            </a:r>
            <a:r>
              <a:rPr lang="en-GB" b="1" dirty="0"/>
              <a:t>scanned</a:t>
            </a:r>
            <a:endParaRPr lang="en-US" b="1" dirty="0"/>
          </a:p>
        </p:txBody>
      </p:sp>
    </p:spTree>
    <p:extLst>
      <p:ext uri="{BB962C8B-B14F-4D97-AF65-F5344CB8AC3E}">
        <p14:creationId xmlns:p14="http://schemas.microsoft.com/office/powerpoint/2010/main" val="3722420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34DA5-2280-0386-4860-92D09BD34698}"/>
              </a:ext>
            </a:extLst>
          </p:cNvPr>
          <p:cNvSpPr>
            <a:spLocks noGrp="1"/>
          </p:cNvSpPr>
          <p:nvPr>
            <p:ph type="title"/>
          </p:nvPr>
        </p:nvSpPr>
        <p:spPr/>
        <p:txBody>
          <a:bodyPr/>
          <a:lstStyle/>
          <a:p>
            <a:pPr algn="ctr"/>
            <a:r>
              <a:rPr lang="en-US" b="1" dirty="0"/>
              <a:t>Scan Queries </a:t>
            </a:r>
          </a:p>
        </p:txBody>
      </p:sp>
      <p:pic>
        <p:nvPicPr>
          <p:cNvPr id="5" name="Content Placeholder 4" descr="Text&#10;&#10;Description automatically generated">
            <a:extLst>
              <a:ext uri="{FF2B5EF4-FFF2-40B4-BE49-F238E27FC236}">
                <a16:creationId xmlns:a16="http://schemas.microsoft.com/office/drawing/2014/main" id="{E767B234-BE88-0AA7-C7BE-8298251196F8}"/>
              </a:ext>
            </a:extLst>
          </p:cNvPr>
          <p:cNvPicPr>
            <a:picLocks noGrp="1" noChangeAspect="1"/>
          </p:cNvPicPr>
          <p:nvPr>
            <p:ph idx="1"/>
          </p:nvPr>
        </p:nvPicPr>
        <p:blipFill>
          <a:blip r:embed="rId3"/>
          <a:stretch>
            <a:fillRect/>
          </a:stretch>
        </p:blipFill>
        <p:spPr>
          <a:xfrm>
            <a:off x="1098168" y="1690687"/>
            <a:ext cx="6013832" cy="4568103"/>
          </a:xfrm>
        </p:spPr>
      </p:pic>
      <p:sp>
        <p:nvSpPr>
          <p:cNvPr id="9" name="TextBox 8">
            <a:extLst>
              <a:ext uri="{FF2B5EF4-FFF2-40B4-BE49-F238E27FC236}">
                <a16:creationId xmlns:a16="http://schemas.microsoft.com/office/drawing/2014/main" id="{DB970EF9-4E2E-21A7-2ECE-D8C12EEA0398}"/>
              </a:ext>
            </a:extLst>
          </p:cNvPr>
          <p:cNvSpPr txBox="1"/>
          <p:nvPr/>
        </p:nvSpPr>
        <p:spPr>
          <a:xfrm>
            <a:off x="7747890" y="842525"/>
            <a:ext cx="4301177" cy="2308324"/>
          </a:xfrm>
          <a:prstGeom prst="rect">
            <a:avLst/>
          </a:prstGeom>
          <a:noFill/>
          <a:ln w="19050">
            <a:solidFill>
              <a:schemeClr val="accent2"/>
            </a:solidFill>
          </a:ln>
        </p:spPr>
        <p:txBody>
          <a:bodyPr wrap="none" rtlCol="0">
            <a:spAutoFit/>
          </a:bodyPr>
          <a:lstStyle/>
          <a:p>
            <a:r>
              <a:rPr lang="en-GB" dirty="0"/>
              <a:t>Perform a Scan operation (checks every</a:t>
            </a:r>
          </a:p>
          <a:p>
            <a:r>
              <a:rPr lang="en-GB" dirty="0"/>
              <a:t> item in the table)</a:t>
            </a:r>
          </a:p>
          <a:p>
            <a:endParaRPr lang="en-GB" dirty="0"/>
          </a:p>
          <a:p>
            <a:r>
              <a:rPr lang="en-GB" dirty="0"/>
              <a:t>Apply server-side filter after scanning items </a:t>
            </a:r>
          </a:p>
          <a:p>
            <a:r>
              <a:rPr lang="en-GB" dirty="0"/>
              <a:t>(not key-based lookup)</a:t>
            </a:r>
            <a:br>
              <a:rPr lang="en-GB" dirty="0"/>
            </a:br>
            <a:br>
              <a:rPr lang="en-GB" dirty="0"/>
            </a:br>
            <a:r>
              <a:rPr lang="en-GB" dirty="0"/>
              <a:t>Full table traversal (slow, O(N), </a:t>
            </a:r>
          </a:p>
          <a:p>
            <a:r>
              <a:rPr lang="en-GB" dirty="0"/>
              <a:t>not partition targeted)</a:t>
            </a:r>
            <a:endParaRPr lang="en-US" dirty="0"/>
          </a:p>
        </p:txBody>
      </p:sp>
      <p:sp>
        <p:nvSpPr>
          <p:cNvPr id="10" name="Rectangle 9">
            <a:extLst>
              <a:ext uri="{FF2B5EF4-FFF2-40B4-BE49-F238E27FC236}">
                <a16:creationId xmlns:a16="http://schemas.microsoft.com/office/drawing/2014/main" id="{0429AFA5-132E-0B7C-1938-53B855B1870E}"/>
              </a:ext>
            </a:extLst>
          </p:cNvPr>
          <p:cNvSpPr/>
          <p:nvPr/>
        </p:nvSpPr>
        <p:spPr>
          <a:xfrm>
            <a:off x="1098168" y="2690191"/>
            <a:ext cx="5368893" cy="331305"/>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17438CF6-83A8-2BA8-7D83-27697C99C17E}"/>
              </a:ext>
            </a:extLst>
          </p:cNvPr>
          <p:cNvCxnSpPr>
            <a:stCxn id="10" idx="3"/>
            <a:endCxn id="9" idx="1"/>
          </p:cNvCxnSpPr>
          <p:nvPr/>
        </p:nvCxnSpPr>
        <p:spPr>
          <a:xfrm flipV="1">
            <a:off x="6467061" y="1996687"/>
            <a:ext cx="1280829" cy="85915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14C3A19-B485-89E6-AC04-9DC1C7E7396F}"/>
              </a:ext>
            </a:extLst>
          </p:cNvPr>
          <p:cNvSpPr txBox="1"/>
          <p:nvPr/>
        </p:nvSpPr>
        <p:spPr>
          <a:xfrm>
            <a:off x="7747890" y="3420741"/>
            <a:ext cx="3624197" cy="369332"/>
          </a:xfrm>
          <a:prstGeom prst="rect">
            <a:avLst/>
          </a:prstGeom>
          <a:noFill/>
          <a:ln w="19050">
            <a:solidFill>
              <a:schemeClr val="accent2"/>
            </a:solidFill>
          </a:ln>
        </p:spPr>
        <p:txBody>
          <a:bodyPr wrap="none" rtlCol="0">
            <a:spAutoFit/>
          </a:bodyPr>
          <a:lstStyle/>
          <a:p>
            <a:r>
              <a:rPr lang="en-GB" dirty="0"/>
              <a:t>Retrieve first page of matching items</a:t>
            </a:r>
            <a:endParaRPr lang="en-US" dirty="0"/>
          </a:p>
        </p:txBody>
      </p:sp>
      <p:sp>
        <p:nvSpPr>
          <p:cNvPr id="15" name="Rectangle 14">
            <a:extLst>
              <a:ext uri="{FF2B5EF4-FFF2-40B4-BE49-F238E27FC236}">
                <a16:creationId xmlns:a16="http://schemas.microsoft.com/office/drawing/2014/main" id="{DF04397D-C36C-0F2F-9A21-5E7FB8F461A2}"/>
              </a:ext>
            </a:extLst>
          </p:cNvPr>
          <p:cNvSpPr/>
          <p:nvPr/>
        </p:nvSpPr>
        <p:spPr>
          <a:xfrm>
            <a:off x="1404730" y="3021496"/>
            <a:ext cx="1736035" cy="106017"/>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E0C4FA24-4A28-9CAE-08B8-AF2E5C01AC72}"/>
              </a:ext>
            </a:extLst>
          </p:cNvPr>
          <p:cNvCxnSpPr>
            <a:cxnSpLocks/>
            <a:stCxn id="15" idx="3"/>
            <a:endCxn id="14" idx="1"/>
          </p:cNvCxnSpPr>
          <p:nvPr/>
        </p:nvCxnSpPr>
        <p:spPr>
          <a:xfrm>
            <a:off x="3140765" y="3074505"/>
            <a:ext cx="4607125" cy="53090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B2DF8CC-1390-EC62-3151-38F1AC7C37DF}"/>
              </a:ext>
            </a:extLst>
          </p:cNvPr>
          <p:cNvSpPr/>
          <p:nvPr/>
        </p:nvSpPr>
        <p:spPr>
          <a:xfrm>
            <a:off x="1098168" y="3605407"/>
            <a:ext cx="5832719" cy="714802"/>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44CE97B-235C-1A8B-59A2-7F52ECBAF96E}"/>
              </a:ext>
            </a:extLst>
          </p:cNvPr>
          <p:cNvSpPr txBox="1"/>
          <p:nvPr/>
        </p:nvSpPr>
        <p:spPr>
          <a:xfrm>
            <a:off x="7371969" y="4470433"/>
            <a:ext cx="4677098" cy="1754326"/>
          </a:xfrm>
          <a:prstGeom prst="rect">
            <a:avLst/>
          </a:prstGeom>
          <a:noFill/>
          <a:ln w="19050">
            <a:solidFill>
              <a:schemeClr val="accent2"/>
            </a:solidFill>
          </a:ln>
        </p:spPr>
        <p:txBody>
          <a:bodyPr wrap="square" rtlCol="0">
            <a:spAutoFit/>
          </a:bodyPr>
          <a:lstStyle/>
          <a:p>
            <a:r>
              <a:rPr lang="en-GB" dirty="0"/>
              <a:t>Continue scanning additional pages using </a:t>
            </a:r>
          </a:p>
          <a:p>
            <a:r>
              <a:rPr lang="en-GB" dirty="0"/>
              <a:t>DynamoDB pagination until all matching items </a:t>
            </a:r>
          </a:p>
          <a:p>
            <a:r>
              <a:rPr lang="en-GB" dirty="0"/>
              <a:t>are retrieved.</a:t>
            </a:r>
            <a:br>
              <a:rPr lang="en-GB" dirty="0"/>
            </a:br>
            <a:br>
              <a:rPr lang="en-GB" dirty="0"/>
            </a:br>
            <a:r>
              <a:rPr lang="en-GB" dirty="0"/>
              <a:t>Stop when the response has no </a:t>
            </a:r>
            <a:r>
              <a:rPr lang="en-GB" dirty="0" err="1"/>
              <a:t>LastEvaluatedKey</a:t>
            </a:r>
            <a:r>
              <a:rPr lang="en-GB" dirty="0"/>
              <a:t> (pagination cursor)</a:t>
            </a:r>
          </a:p>
        </p:txBody>
      </p:sp>
      <p:cxnSp>
        <p:nvCxnSpPr>
          <p:cNvPr id="24" name="Straight Connector 23">
            <a:extLst>
              <a:ext uri="{FF2B5EF4-FFF2-40B4-BE49-F238E27FC236}">
                <a16:creationId xmlns:a16="http://schemas.microsoft.com/office/drawing/2014/main" id="{C6E6E1FD-6A89-990B-C746-FEA9C98E6863}"/>
              </a:ext>
            </a:extLst>
          </p:cNvPr>
          <p:cNvCxnSpPr>
            <a:cxnSpLocks/>
            <a:stCxn id="22" idx="1"/>
            <a:endCxn id="21" idx="3"/>
          </p:cNvCxnSpPr>
          <p:nvPr/>
        </p:nvCxnSpPr>
        <p:spPr>
          <a:xfrm flipH="1" flipV="1">
            <a:off x="6930887" y="3962808"/>
            <a:ext cx="441082" cy="13847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514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P spid="15" grpId="0" animBg="1"/>
      <p:bldP spid="21" grpId="0" animBg="1"/>
      <p:bldP spid="2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95D93-73E3-B27F-71EB-C31F6347F096}"/>
              </a:ext>
            </a:extLst>
          </p:cNvPr>
          <p:cNvSpPr>
            <a:spLocks noGrp="1"/>
          </p:cNvSpPr>
          <p:nvPr>
            <p:ph type="title"/>
          </p:nvPr>
        </p:nvSpPr>
        <p:spPr/>
        <p:txBody>
          <a:bodyPr/>
          <a:lstStyle/>
          <a:p>
            <a:pPr algn="ctr"/>
            <a:r>
              <a:rPr lang="en-US" b="1" dirty="0"/>
              <a:t>More Complex Querying and Table Joining</a:t>
            </a:r>
          </a:p>
        </p:txBody>
      </p:sp>
      <p:sp>
        <p:nvSpPr>
          <p:cNvPr id="3" name="Content Placeholder 2">
            <a:extLst>
              <a:ext uri="{FF2B5EF4-FFF2-40B4-BE49-F238E27FC236}">
                <a16:creationId xmlns:a16="http://schemas.microsoft.com/office/drawing/2014/main" id="{57538DF2-2911-A0E7-68E0-BB14781D9868}"/>
              </a:ext>
            </a:extLst>
          </p:cNvPr>
          <p:cNvSpPr>
            <a:spLocks noGrp="1"/>
          </p:cNvSpPr>
          <p:nvPr>
            <p:ph idx="1"/>
          </p:nvPr>
        </p:nvSpPr>
        <p:spPr/>
        <p:txBody>
          <a:bodyPr>
            <a:normAutofit fontScale="92500"/>
          </a:bodyPr>
          <a:lstStyle/>
          <a:p>
            <a:r>
              <a:rPr lang="en-US" dirty="0"/>
              <a:t>Possible through scanning and additional code, but slow.</a:t>
            </a:r>
          </a:p>
          <a:p>
            <a:endParaRPr lang="en-US" dirty="0"/>
          </a:p>
          <a:p>
            <a:r>
              <a:rPr lang="en-GB" dirty="0"/>
              <a:t>Instead of joins, design tables around your query patterns.</a:t>
            </a:r>
          </a:p>
          <a:p>
            <a:pPr lvl="1"/>
            <a:r>
              <a:rPr lang="en-GB" dirty="0"/>
              <a:t>Accept redundancy and controlled data duplication.</a:t>
            </a:r>
          </a:p>
          <a:p>
            <a:pPr lvl="1"/>
            <a:endParaRPr lang="en-GB" dirty="0"/>
          </a:p>
          <a:p>
            <a:r>
              <a:rPr lang="en-GB" dirty="0"/>
              <a:t>DynamoDB provides features like Global Secondary Indexes (GSIs), which maintain internally duplicated data organized by different partition keys.</a:t>
            </a:r>
          </a:p>
          <a:p>
            <a:endParaRPr lang="en-GB" dirty="0"/>
          </a:p>
          <a:p>
            <a:r>
              <a:rPr lang="en-GB" dirty="0"/>
              <a:t>In contrast, relational databases minimize redundancy and rely on joins and a powerful query language to answer complex queries.</a:t>
            </a:r>
            <a:endParaRPr lang="en-US" dirty="0"/>
          </a:p>
        </p:txBody>
      </p:sp>
    </p:spTree>
    <p:extLst>
      <p:ext uri="{BB962C8B-B14F-4D97-AF65-F5344CB8AC3E}">
        <p14:creationId xmlns:p14="http://schemas.microsoft.com/office/powerpoint/2010/main" val="14895963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A7D53-2644-0755-7031-0F2398B899DA}"/>
              </a:ext>
            </a:extLst>
          </p:cNvPr>
          <p:cNvSpPr>
            <a:spLocks noGrp="1"/>
          </p:cNvSpPr>
          <p:nvPr>
            <p:ph type="title"/>
          </p:nvPr>
        </p:nvSpPr>
        <p:spPr/>
        <p:txBody>
          <a:bodyPr/>
          <a:lstStyle/>
          <a:p>
            <a:pPr algn="ctr"/>
            <a:r>
              <a:rPr lang="en-US" b="1" dirty="0"/>
              <a:t>Possible Database Use-cases for Your System</a:t>
            </a:r>
          </a:p>
        </p:txBody>
      </p:sp>
      <p:sp>
        <p:nvSpPr>
          <p:cNvPr id="3" name="Content Placeholder 2">
            <a:extLst>
              <a:ext uri="{FF2B5EF4-FFF2-40B4-BE49-F238E27FC236}">
                <a16:creationId xmlns:a16="http://schemas.microsoft.com/office/drawing/2014/main" id="{032AC7BC-ED1F-A050-F8CB-33F3A45216C8}"/>
              </a:ext>
            </a:extLst>
          </p:cNvPr>
          <p:cNvSpPr>
            <a:spLocks noGrp="1"/>
          </p:cNvSpPr>
          <p:nvPr>
            <p:ph idx="1"/>
          </p:nvPr>
        </p:nvSpPr>
        <p:spPr/>
        <p:txBody>
          <a:bodyPr>
            <a:noAutofit/>
          </a:bodyPr>
          <a:lstStyle/>
          <a:p>
            <a:r>
              <a:rPr lang="en-GB" sz="1600" b="1" dirty="0"/>
              <a:t>General application data</a:t>
            </a:r>
          </a:p>
          <a:p>
            <a:pPr lvl="1"/>
            <a:r>
              <a:rPr lang="en-GB" sz="1600" dirty="0"/>
              <a:t>Store core application data such as users, content, or domain-specific entities needed for normal operation</a:t>
            </a:r>
            <a:endParaRPr lang="en-US" sz="1600" b="1" dirty="0"/>
          </a:p>
          <a:p>
            <a:r>
              <a:rPr lang="en-US" sz="1600" b="1" dirty="0"/>
              <a:t>Data collection and history</a:t>
            </a:r>
          </a:p>
          <a:p>
            <a:pPr lvl="1"/>
            <a:r>
              <a:rPr lang="en-US" sz="1600" dirty="0"/>
              <a:t>Store measurements, summaries, and historical records for monitoring, analysis, display through web interface etc.</a:t>
            </a:r>
          </a:p>
          <a:p>
            <a:r>
              <a:rPr lang="en-GB" sz="1600" b="1" dirty="0"/>
              <a:t>System recovery and restart state</a:t>
            </a:r>
          </a:p>
          <a:p>
            <a:pPr lvl="1"/>
            <a:r>
              <a:rPr lang="en-GB" sz="1600" dirty="0"/>
              <a:t>Store checkpoints, last-known state, and progress markers so the system can resume correctly after crashes, restarts, or network failures</a:t>
            </a:r>
            <a:endParaRPr lang="en-US" sz="1600" dirty="0"/>
          </a:p>
          <a:p>
            <a:r>
              <a:rPr lang="en-US" sz="1600" b="1" dirty="0"/>
              <a:t>Configuration, preferences, and personalization</a:t>
            </a:r>
          </a:p>
          <a:p>
            <a:pPr lvl="1"/>
            <a:r>
              <a:rPr lang="en-US" sz="1600" dirty="0"/>
              <a:t>Maintain system rules, user preferences, and adjustable parameters that shape application behaviour</a:t>
            </a:r>
          </a:p>
          <a:p>
            <a:r>
              <a:rPr lang="en-US" sz="1600" b="1" dirty="0"/>
              <a:t> Event tracking and notifications</a:t>
            </a:r>
          </a:p>
          <a:p>
            <a:pPr lvl="1"/>
            <a:r>
              <a:rPr lang="en-US" sz="1600" dirty="0"/>
              <a:t>Record notable events (e.g. anomalies, milestones, interactions) and drive alerts or user-visible actions</a:t>
            </a:r>
          </a:p>
          <a:p>
            <a:r>
              <a:rPr lang="en-US" sz="1600" b="1" dirty="0"/>
              <a:t>Individual User activity and Data</a:t>
            </a:r>
          </a:p>
          <a:p>
            <a:pPr lvl="1"/>
            <a:r>
              <a:rPr lang="en-US" sz="1600" dirty="0"/>
              <a:t>Track how the system is used over time to understand behaviour, performance, and trends</a:t>
            </a:r>
          </a:p>
          <a:p>
            <a:r>
              <a:rPr lang="en-US" sz="1600" dirty="0"/>
              <a:t> </a:t>
            </a:r>
            <a:r>
              <a:rPr lang="en-US" sz="1600" b="1" dirty="0"/>
              <a:t>Shared state and coordination</a:t>
            </a:r>
          </a:p>
          <a:p>
            <a:pPr lvl="1"/>
            <a:r>
              <a:rPr lang="en-US" sz="1600" dirty="0"/>
              <a:t>Maintain common state across components, users, or sessions to enable consistent system behaviour</a:t>
            </a:r>
          </a:p>
          <a:p>
            <a:endParaRPr lang="en-US" sz="1600" dirty="0"/>
          </a:p>
        </p:txBody>
      </p:sp>
    </p:spTree>
    <p:extLst>
      <p:ext uri="{BB962C8B-B14F-4D97-AF65-F5344CB8AC3E}">
        <p14:creationId xmlns:p14="http://schemas.microsoft.com/office/powerpoint/2010/main" val="30034894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11270</TotalTime>
  <Words>3648</Words>
  <Application>Microsoft Macintosh PowerPoint</Application>
  <PresentationFormat>Widescreen</PresentationFormat>
  <Paragraphs>408</Paragraphs>
  <Slides>32</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Amazon Ember</vt:lpstr>
      <vt:lpstr>Arial</vt:lpstr>
      <vt:lpstr>Calibri</vt:lpstr>
      <vt:lpstr>Calibri Light</vt:lpstr>
      <vt:lpstr>Consolas</vt:lpstr>
      <vt:lpstr>Wingdings</vt:lpstr>
      <vt:lpstr>Office Theme</vt:lpstr>
      <vt:lpstr>Information Processing  Week 4</vt:lpstr>
      <vt:lpstr>Today’s Topics</vt:lpstr>
      <vt:lpstr>Intended Leaning Outcomes</vt:lpstr>
      <vt:lpstr>Architecture of a Typical IoT System</vt:lpstr>
      <vt:lpstr>Cloud Computing – What is it?</vt:lpstr>
      <vt:lpstr>Cloud Delivery Models</vt:lpstr>
      <vt:lpstr>Your Project Setup</vt:lpstr>
      <vt:lpstr>Amazon’s Elastic Compute Cloud (EC2) </vt:lpstr>
      <vt:lpstr>EC2 Configuration Steps (Lab 4)</vt:lpstr>
      <vt:lpstr>Basic Software Installations on EC2 (Lab 4)</vt:lpstr>
      <vt:lpstr>Client-Server Communication Example: A simple TCP Client and a Server on EC2</vt:lpstr>
      <vt:lpstr>Handling Multiple Clients Concurrently The Multithreading Approach</vt:lpstr>
      <vt:lpstr>Concurrency without Multithreading?</vt:lpstr>
      <vt:lpstr>Handling Multiple Clients Concurrently Using Event-Based Concurrency</vt:lpstr>
      <vt:lpstr>Event–Based Concurrency with asyncio</vt:lpstr>
      <vt:lpstr>Client-Server Communication Event-Based Concurrency, Multithreading, Multiprocessing</vt:lpstr>
      <vt:lpstr>Part II Database</vt:lpstr>
      <vt:lpstr>Database Options</vt:lpstr>
      <vt:lpstr>Database Options</vt:lpstr>
      <vt:lpstr>Horizontal Scaling of Databases</vt:lpstr>
      <vt:lpstr>DynamoDB:  An Example of a NoSQL Key-Value Store</vt:lpstr>
      <vt:lpstr>Amazon’s DynamoDB, a key-value store</vt:lpstr>
      <vt:lpstr>Creating a Table in DynamoDB (Boto3 Python)</vt:lpstr>
      <vt:lpstr>Inserting an Item into a Table</vt:lpstr>
      <vt:lpstr>Reading an Item From a Table</vt:lpstr>
      <vt:lpstr>Conditionally Deleting Items</vt:lpstr>
      <vt:lpstr>General Queries</vt:lpstr>
      <vt:lpstr>General Queries</vt:lpstr>
      <vt:lpstr>Querying Across Multiple Partitions</vt:lpstr>
      <vt:lpstr>Scan Queries </vt:lpstr>
      <vt:lpstr>More Complex Querying and Table Joining</vt:lpstr>
      <vt:lpstr>Possible Database Use-cases for Your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Processing  Labs 5 &amp; 6</dc:title>
  <dc:creator>Sarim Baig</dc:creator>
  <cp:lastModifiedBy>Sarim Baig</cp:lastModifiedBy>
  <cp:revision>15</cp:revision>
  <cp:lastPrinted>2026-01-12T23:22:27Z</cp:lastPrinted>
  <dcterms:created xsi:type="dcterms:W3CDTF">2023-01-30T10:26:59Z</dcterms:created>
  <dcterms:modified xsi:type="dcterms:W3CDTF">2026-01-25T22:05:58Z</dcterms:modified>
</cp:coreProperties>
</file>